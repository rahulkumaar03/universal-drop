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Preference</c:v>
                </c:pt>
              </c:strCache>
            </c:strRef>
          </c:tx>
          <c:spPr>
            <a:solidFill>
              <a:schemeClr val="accent1"/>
            </a:solidFill>
            <a:ln w="9525" cap="flat">
              <a:solidFill>
                <a:srgbClr val="F9F9F9"/>
              </a:solidFill>
              <a:prstDash val="solid"/>
              <a:round/>
            </a:ln>
            <a:effectLst/>
          </c:spPr>
          <c:dPt>
            <c:idx val="0"/>
            <c:bubble3D val="0"/>
            <c:spPr>
              <a:solidFill>
                <a:srgbClr val="2F3C7E"/>
              </a:solidFill>
              <a:effectLst/>
            </c:spPr>
          </c:dPt>
          <c:dPt>
            <c:idx val="1"/>
            <c:bubble3D val="0"/>
            <c:spPr>
              <a:solidFill>
                <a:srgbClr val="F96167"/>
              </a:solidFill>
              <a:effectLst/>
            </c:spPr>
          </c:dPt>
          <c:dPt>
            <c:idx val="2"/>
            <c:bubble3D val="0"/>
            <c:spPr>
              <a:solidFill>
                <a:srgbClr val="F9E795"/>
              </a:solidFill>
              <a:effectLst/>
            </c:spPr>
          </c:dPt>
          <c:dLbls>
            <c:dLbl>
              <c:idx val="0"/>
              <c:numFmt formatCode="General" sourceLinked="0"/>
              <c:spPr/>
              <c:txPr>
                <a:bodyPr/>
                <a:lstStyle/>
                <a:p>
                  <a:pPr>
                    <a:defRPr sz="1100" b="0" i="0" u="none" strike="noStrike">
                      <a:solidFill>
                        <a:srgbClr val="FFFFFF"/>
                      </a:solidFill>
                      <a:latin typeface="Arial"/>
                    </a:defRPr>
                  </a:pPr>
                </a:p>
              </c:txPr>
              <c:dLblPos val="inEnd"/>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Arial"/>
                    </a:defRPr>
                  </a:pPr>
                </a:p>
              </c:txPr>
              <c:dLblPos val="inEnd"/>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Arial"/>
                    </a:defRPr>
                  </a:pPr>
                </a:p>
              </c:txPr>
              <c:dLblPos val="inEnd"/>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Mobile Games</c:v>
                </c:pt>
                <c:pt idx="1">
                  <c:v>Traditional Games</c:v>
                </c:pt>
                <c:pt idx="2">
                  <c:v>Both Equally</c:v>
                </c:pt>
              </c:strCache>
            </c:strRef>
          </c:cat>
          <c:val>
            <c:numRef>
              <c:f>Sheet1!$B$2:$B$4</c:f>
              <c:numCache>
                <c:ptCount val="3"/>
                <c:pt idx="0">
                  <c:v>37</c:v>
                </c:pt>
                <c:pt idx="1">
                  <c:v>15</c:v>
                </c:pt>
                <c:pt idx="2">
                  <c:v>8</c:v>
                </c:pt>
              </c:numCache>
            </c:numRef>
          </c:val>
        </c:ser>
        <c:firstSliceAng val="0"/>
      </c:pieChart>
      <c:spPr>
        <a:noFill/>
        <a:ln>
          <a:noFill/>
        </a:ln>
        <a:effectLst/>
      </c:spPr>
    </c:plotArea>
    <c:legend>
      <c:legendPos val="b"/>
      <c:overlay val="0"/>
      <c:txPr>
        <a:bodyPr/>
        <a:lstStyle/>
        <a:p>
          <a:pPr>
            <a:defRPr sz="1000">
              <a:solidFill>
                <a:srgbClr val="242424"/>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Respondents</c:v>
                </c:pt>
              </c:strCache>
            </c:strRef>
          </c:tx>
          <c:spPr>
            <a:solidFill>
              <a:srgbClr val="2F3C7E"/>
            </a:solidFill>
            <a:effectLst/>
          </c:spPr>
          <c:invertIfNegative val="0"/>
          <c:dLbls>
            <c:numFmt formatCode="#,##0" sourceLinked="0"/>
            <c:txPr>
              <a:bodyPr/>
              <a:lstStyle/>
              <a:p>
                <a:pPr>
                  <a:defRPr b="0" i="0" strike="noStrike" sz="1000" u="none">
                    <a:solidFill>
                      <a:srgbClr val="242424"/>
                    </a:solidFill>
                    <a:latin typeface="Arial"/>
                  </a:defRPr>
                </a:pPr>
              </a:p>
            </c:txPr>
            <c:showLegendKey val="0"/>
            <c:showVal val="1"/>
            <c:showCatName val="0"/>
            <c:showSerName val="0"/>
            <c:showPercent val="0"/>
            <c:showBubbleSize val="0"/>
            <c:showLeaderLines val="0"/>
          </c:dLbls>
          <c:cat>
            <c:multiLvlStrRef>
              <c:f>Sheet1!$A$2:$A$5</c:f>
              <c:multiLvlStrCache>
                <c:ptCount val="4"/>
                <c:lvl>
                  <c:pt idx="0">
                    <c:v>&lt; 1 hr</c:v>
                  </c:pt>
                  <c:pt idx="1">
                    <c:v>1-2 hrs</c:v>
                  </c:pt>
                  <c:pt idx="2">
                    <c:v>2-4 hrs</c:v>
                  </c:pt>
                  <c:pt idx="3">
                    <c:v>4+ hrs</c:v>
                  </c:pt>
                </c:lvl>
              </c:multiLvlStrCache>
            </c:multiLvlStrRef>
          </c:cat>
          <c:val>
            <c:numRef>
              <c:f>Sheet1!$B$2:$B$5</c:f>
              <c:numCache>
                <c:formatCode>General</c:formatCode>
                <c:ptCount val="4"/>
                <c:pt idx="0">
                  <c:v>9</c:v>
                </c:pt>
                <c:pt idx="1">
                  <c:v>21</c:v>
                </c:pt>
                <c:pt idx="2">
                  <c:v>19</c:v>
                </c:pt>
                <c:pt idx="3">
                  <c:v>11</c:v>
                </c:pt>
              </c:numCache>
            </c:numRef>
          </c:val>
        </c:ser>
        <c:dLbls>
          <c:numFmt formatCode="#,##0" sourceLinked="0"/>
          <c:txPr>
            <a:bodyPr/>
            <a:lstStyle/>
            <a:p>
              <a:pPr>
                <a:defRPr b="0" i="0" strike="noStrike" sz="1000" u="none">
                  <a:solidFill>
                    <a:srgbClr val="242424"/>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F3C7E"/>
          </a:solidFill>
          <a:ln/>
        </p:spPr>
      </p:sp>
      <p:sp>
        <p:nvSpPr>
          <p:cNvPr id="3" name="Shape 1"/>
          <p:cNvSpPr/>
          <p:nvPr/>
        </p:nvSpPr>
        <p:spPr>
          <a:xfrm>
            <a:off x="8961120" y="-1645920"/>
            <a:ext cx="5029200" cy="5029200"/>
          </a:xfrm>
          <a:prstGeom prst="ellipse">
            <a:avLst/>
          </a:prstGeom>
          <a:solidFill>
            <a:srgbClr val="F96167">
              <a:alpha val="15000"/>
            </a:srgbClr>
          </a:solidFill>
          <a:ln/>
        </p:spPr>
      </p:sp>
      <p:sp>
        <p:nvSpPr>
          <p:cNvPr id="4" name="Shape 2"/>
          <p:cNvSpPr/>
          <p:nvPr/>
        </p:nvSpPr>
        <p:spPr>
          <a:xfrm>
            <a:off x="-1828800" y="4114800"/>
            <a:ext cx="4572000" cy="4572000"/>
          </a:xfrm>
          <a:prstGeom prst="ellipse">
            <a:avLst/>
          </a:prstGeom>
          <a:solidFill>
            <a:srgbClr val="F9E795">
              <a:alpha val="12000"/>
            </a:srgbClr>
          </a:solidFill>
          <a:ln/>
        </p:spPr>
      </p:sp>
      <p:pic>
        <p:nvPicPr>
          <p:cNvPr id="5" name="Image 0" descr="/home/claude/ppt/icons/marbles_coral.png">    </p:cNvPr>
          <p:cNvPicPr>
            <a:picLocks noChangeAspect="1"/>
          </p:cNvPicPr>
          <p:nvPr/>
        </p:nvPicPr>
        <p:blipFill>
          <a:blip r:embed="rId1"/>
          <a:stretch>
            <a:fillRect/>
          </a:stretch>
        </p:blipFill>
        <p:spPr>
          <a:xfrm>
            <a:off x="914400" y="1051560"/>
            <a:ext cx="868680" cy="868680"/>
          </a:xfrm>
          <a:prstGeom prst="rect">
            <a:avLst/>
          </a:prstGeom>
        </p:spPr>
      </p:pic>
      <p:sp>
        <p:nvSpPr>
          <p:cNvPr id="6" name="Text 3"/>
          <p:cNvSpPr/>
          <p:nvPr/>
        </p:nvSpPr>
        <p:spPr>
          <a:xfrm>
            <a:off x="1920240" y="1188720"/>
            <a:ext cx="822960" cy="640080"/>
          </a:xfrm>
          <a:prstGeom prst="rect">
            <a:avLst/>
          </a:prstGeom>
          <a:noFill/>
          <a:ln/>
        </p:spPr>
        <p:txBody>
          <a:bodyPr wrap="square" lIns="0" tIns="0" rIns="0" bIns="0" rtlCol="0" anchor="ctr"/>
          <a:lstStyle/>
          <a:p>
            <a:pPr algn="ctr" indent="0" marL="0">
              <a:buNone/>
            </a:pPr>
            <a:r>
              <a:rPr lang="en-US" sz="2200" b="1" dirty="0">
                <a:solidFill>
                  <a:srgbClr val="F9E795"/>
                </a:solidFill>
                <a:latin typeface="Cambria" pitchFamily="34" charset="0"/>
                <a:ea typeface="Cambria" pitchFamily="34" charset="-122"/>
                <a:cs typeface="Cambria" pitchFamily="34" charset="-120"/>
              </a:rPr>
              <a:t>VS</a:t>
            </a:r>
            <a:endParaRPr lang="en-US" sz="2200" dirty="0"/>
          </a:p>
        </p:txBody>
      </p:sp>
      <p:pic>
        <p:nvPicPr>
          <p:cNvPr id="7" name="Image 1" descr="/home/claude/ppt/icons/mobile_white.png">    </p:cNvPr>
          <p:cNvPicPr>
            <a:picLocks noChangeAspect="1"/>
          </p:cNvPicPr>
          <p:nvPr/>
        </p:nvPicPr>
        <p:blipFill>
          <a:blip r:embed="rId2"/>
          <a:stretch>
            <a:fillRect/>
          </a:stretch>
        </p:blipFill>
        <p:spPr>
          <a:xfrm>
            <a:off x="2880360" y="1051560"/>
            <a:ext cx="777240" cy="868680"/>
          </a:xfrm>
          <a:prstGeom prst="rect">
            <a:avLst/>
          </a:prstGeom>
        </p:spPr>
      </p:pic>
      <p:sp>
        <p:nvSpPr>
          <p:cNvPr id="8" name="Text 4"/>
          <p:cNvSpPr/>
          <p:nvPr/>
        </p:nvSpPr>
        <p:spPr>
          <a:xfrm>
            <a:off x="822960" y="2148840"/>
            <a:ext cx="1051560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Traditional Games vs. Mobile Games</a:t>
            </a:r>
            <a:endParaRPr lang="en-US" sz="4400" dirty="0"/>
          </a:p>
        </p:txBody>
      </p:sp>
      <p:sp>
        <p:nvSpPr>
          <p:cNvPr id="9" name="Text 5"/>
          <p:cNvSpPr/>
          <p:nvPr/>
        </p:nvSpPr>
        <p:spPr>
          <a:xfrm>
            <a:off x="822960" y="3246120"/>
            <a:ext cx="10058400" cy="548640"/>
          </a:xfrm>
          <a:prstGeom prst="rect">
            <a:avLst/>
          </a:prstGeom>
          <a:noFill/>
          <a:ln/>
        </p:spPr>
        <p:txBody>
          <a:bodyPr wrap="square" lIns="0" tIns="0" rIns="0" bIns="0" rtlCol="0" anchor="ctr"/>
          <a:lstStyle/>
          <a:p>
            <a:pPr indent="0" marL="0">
              <a:buNone/>
            </a:pPr>
            <a:r>
              <a:rPr lang="en-US" sz="1800" i="1" dirty="0">
                <a:solidFill>
                  <a:srgbClr val="F9E795"/>
                </a:solidFill>
                <a:latin typeface="Calibri" pitchFamily="34" charset="0"/>
                <a:ea typeface="Calibri" pitchFamily="34" charset="-122"/>
                <a:cs typeface="Calibri" pitchFamily="34" charset="-120"/>
              </a:rPr>
              <a:t>A Comparative Study of Play, Culture, and Screens</a:t>
            </a:r>
            <a:endParaRPr lang="en-US" sz="1800" dirty="0"/>
          </a:p>
        </p:txBody>
      </p:sp>
      <p:sp>
        <p:nvSpPr>
          <p:cNvPr id="10" name="Shape 6"/>
          <p:cNvSpPr/>
          <p:nvPr/>
        </p:nvSpPr>
        <p:spPr>
          <a:xfrm>
            <a:off x="822960" y="3977640"/>
            <a:ext cx="4754880" cy="0"/>
          </a:xfrm>
          <a:prstGeom prst="line">
            <a:avLst/>
          </a:prstGeom>
          <a:noFill/>
          <a:ln w="25400">
            <a:solidFill>
              <a:srgbClr val="F96167"/>
            </a:solidFill>
            <a:prstDash val="solid"/>
          </a:ln>
        </p:spPr>
      </p:sp>
      <p:sp>
        <p:nvSpPr>
          <p:cNvPr id="11" name="Text 7"/>
          <p:cNvSpPr/>
          <p:nvPr/>
        </p:nvSpPr>
        <p:spPr>
          <a:xfrm>
            <a:off x="822960" y="4160520"/>
            <a:ext cx="10515600" cy="457200"/>
          </a:xfrm>
          <a:prstGeom prst="rect">
            <a:avLst/>
          </a:prstGeom>
          <a:noFill/>
          <a:ln/>
        </p:spPr>
        <p:txBody>
          <a:bodyPr wrap="square" lIns="0" tIns="0" rIns="0" bIns="0" rtlCol="0" anchor="ctr"/>
          <a:lstStyle/>
          <a:p>
            <a:pPr indent="0" marL="0">
              <a:buNone/>
            </a:pPr>
            <a:r>
              <a:rPr lang="en-US" sz="1300" b="1" dirty="0">
                <a:solidFill>
                  <a:srgbClr val="F9E795"/>
                </a:solidFill>
                <a:latin typeface="Calibri" pitchFamily="34" charset="0"/>
                <a:ea typeface="Calibri" pitchFamily="34" charset="-122"/>
                <a:cs typeface="Calibri" pitchFamily="34" charset="-120"/>
              </a:rPr>
              <a:t>Paper Code: </a:t>
            </a:r>
            <a:pPr indent="0" marL="0">
              <a:buNone/>
            </a:pPr>
            <a:r>
              <a:rPr lang="en-US" sz="1300" dirty="0">
                <a:solidFill>
                  <a:srgbClr val="FFFFFF"/>
                </a:solidFill>
                <a:latin typeface="Calibri" pitchFamily="34" charset="0"/>
                <a:ea typeface="Calibri" pitchFamily="34" charset="-122"/>
                <a:cs typeface="Calibri" pitchFamily="34" charset="-120"/>
              </a:rPr>
              <a:t>HU391    </a:t>
            </a:r>
            <a:pPr indent="0" marL="0">
              <a:buNone/>
            </a:pPr>
            <a:r>
              <a:rPr lang="en-US" sz="1300" b="1" dirty="0">
                <a:solidFill>
                  <a:srgbClr val="F9E795"/>
                </a:solidFill>
                <a:latin typeface="Calibri" pitchFamily="34" charset="0"/>
                <a:ea typeface="Calibri" pitchFamily="34" charset="-122"/>
                <a:cs typeface="Calibri" pitchFamily="34" charset="-120"/>
              </a:rPr>
              <a:t>Paper Name: </a:t>
            </a:r>
            <a:pPr indent="0" marL="0">
              <a:buNone/>
            </a:pPr>
            <a:r>
              <a:rPr lang="en-US" sz="1300" dirty="0">
                <a:solidFill>
                  <a:srgbClr val="FFFFFF"/>
                </a:solidFill>
                <a:latin typeface="Calibri" pitchFamily="34" charset="0"/>
                <a:ea typeface="Calibri" pitchFamily="34" charset="-122"/>
                <a:cs typeface="Calibri" pitchFamily="34" charset="-120"/>
              </a:rPr>
              <a:t>Technical Seminar Presentation and Group Discussion</a:t>
            </a:r>
            <a:endParaRPr lang="en-US" sz="1300" dirty="0"/>
          </a:p>
        </p:txBody>
      </p:sp>
      <p:sp>
        <p:nvSpPr>
          <p:cNvPr id="12" name="Shape 8"/>
          <p:cNvSpPr/>
          <p:nvPr/>
        </p:nvSpPr>
        <p:spPr>
          <a:xfrm>
            <a:off x="822960" y="4892040"/>
            <a:ext cx="3291840" cy="1188720"/>
          </a:xfrm>
          <a:prstGeom prst="roundRect">
            <a:avLst>
              <a:gd name="adj" fmla="val 7692"/>
            </a:avLst>
          </a:prstGeom>
          <a:solidFill>
            <a:srgbClr val="FFFFFF">
              <a:alpha val="8000"/>
            </a:srgbClr>
          </a:solidFill>
          <a:ln w="12700">
            <a:solidFill>
              <a:srgbClr val="F9E795"/>
            </a:solidFill>
            <a:prstDash val="solid"/>
          </a:ln>
        </p:spPr>
      </p:sp>
      <p:sp>
        <p:nvSpPr>
          <p:cNvPr id="13" name="Text 9"/>
          <p:cNvSpPr/>
          <p:nvPr/>
        </p:nvSpPr>
        <p:spPr>
          <a:xfrm>
            <a:off x="1005840" y="5010912"/>
            <a:ext cx="2926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Abhinab Kumar</a:t>
            </a:r>
            <a:endParaRPr lang="en-US" sz="1500" dirty="0"/>
          </a:p>
        </p:txBody>
      </p:sp>
      <p:sp>
        <p:nvSpPr>
          <p:cNvPr id="14" name="Text 10"/>
          <p:cNvSpPr/>
          <p:nvPr/>
        </p:nvSpPr>
        <p:spPr>
          <a:xfrm>
            <a:off x="1005840" y="5468112"/>
            <a:ext cx="2926080" cy="457200"/>
          </a:xfrm>
          <a:prstGeom prst="rect">
            <a:avLst/>
          </a:prstGeom>
          <a:noFill/>
          <a:ln/>
        </p:spPr>
        <p:txBody>
          <a:bodyPr wrap="square" lIns="0" tIns="0" rIns="0" bIns="0" rtlCol="0" anchor="ctr"/>
          <a:lstStyle/>
          <a:p>
            <a:pPr indent="0" marL="0">
              <a:buNone/>
            </a:pPr>
            <a:r>
              <a:rPr lang="en-US" sz="1200" dirty="0">
                <a:solidFill>
                  <a:srgbClr val="F9E795"/>
                </a:solidFill>
                <a:latin typeface="Calibri" pitchFamily="34" charset="0"/>
                <a:ea typeface="Calibri" pitchFamily="34" charset="-122"/>
                <a:cs typeface="Calibri" pitchFamily="34" charset="-120"/>
              </a:rPr>
              <a:t>Roll No. 147</a:t>
            </a:r>
            <a:endParaRPr lang="en-US" sz="1200" dirty="0"/>
          </a:p>
        </p:txBody>
      </p:sp>
      <p:sp>
        <p:nvSpPr>
          <p:cNvPr id="15" name="Shape 11"/>
          <p:cNvSpPr/>
          <p:nvPr/>
        </p:nvSpPr>
        <p:spPr>
          <a:xfrm>
            <a:off x="4434840" y="4892040"/>
            <a:ext cx="3291840" cy="1188720"/>
          </a:xfrm>
          <a:prstGeom prst="roundRect">
            <a:avLst>
              <a:gd name="adj" fmla="val 7692"/>
            </a:avLst>
          </a:prstGeom>
          <a:solidFill>
            <a:srgbClr val="FFFFFF">
              <a:alpha val="8000"/>
            </a:srgbClr>
          </a:solidFill>
          <a:ln w="12700">
            <a:solidFill>
              <a:srgbClr val="F9E795"/>
            </a:solidFill>
            <a:prstDash val="solid"/>
          </a:ln>
        </p:spPr>
      </p:sp>
      <p:sp>
        <p:nvSpPr>
          <p:cNvPr id="16" name="Text 12"/>
          <p:cNvSpPr/>
          <p:nvPr/>
        </p:nvSpPr>
        <p:spPr>
          <a:xfrm>
            <a:off x="4617720" y="5010912"/>
            <a:ext cx="2926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Nikhil Kumar Chouhan</a:t>
            </a:r>
            <a:endParaRPr lang="en-US" sz="1500" dirty="0"/>
          </a:p>
        </p:txBody>
      </p:sp>
      <p:sp>
        <p:nvSpPr>
          <p:cNvPr id="17" name="Text 13"/>
          <p:cNvSpPr/>
          <p:nvPr/>
        </p:nvSpPr>
        <p:spPr>
          <a:xfrm>
            <a:off x="4617720" y="5468112"/>
            <a:ext cx="2926080" cy="457200"/>
          </a:xfrm>
          <a:prstGeom prst="rect">
            <a:avLst/>
          </a:prstGeom>
          <a:noFill/>
          <a:ln/>
        </p:spPr>
        <p:txBody>
          <a:bodyPr wrap="square" lIns="0" tIns="0" rIns="0" bIns="0" rtlCol="0" anchor="ctr"/>
          <a:lstStyle/>
          <a:p>
            <a:pPr indent="0" marL="0">
              <a:buNone/>
            </a:pPr>
            <a:r>
              <a:rPr lang="en-US" sz="1200" dirty="0">
                <a:solidFill>
                  <a:srgbClr val="F9E795"/>
                </a:solidFill>
                <a:latin typeface="Calibri" pitchFamily="34" charset="0"/>
                <a:ea typeface="Calibri" pitchFamily="34" charset="-122"/>
                <a:cs typeface="Calibri" pitchFamily="34" charset="-120"/>
              </a:rPr>
              <a:t>Roll No. 169</a:t>
            </a:r>
            <a:endParaRPr lang="en-US" sz="1200" dirty="0"/>
          </a:p>
        </p:txBody>
      </p:sp>
      <p:sp>
        <p:nvSpPr>
          <p:cNvPr id="18" name="Shape 14"/>
          <p:cNvSpPr/>
          <p:nvPr/>
        </p:nvSpPr>
        <p:spPr>
          <a:xfrm>
            <a:off x="8046720" y="4892040"/>
            <a:ext cx="3291840" cy="1188720"/>
          </a:xfrm>
          <a:prstGeom prst="roundRect">
            <a:avLst>
              <a:gd name="adj" fmla="val 7692"/>
            </a:avLst>
          </a:prstGeom>
          <a:solidFill>
            <a:srgbClr val="FFFFFF">
              <a:alpha val="8000"/>
            </a:srgbClr>
          </a:solidFill>
          <a:ln w="12700">
            <a:solidFill>
              <a:srgbClr val="F9E795"/>
            </a:solidFill>
            <a:prstDash val="solid"/>
          </a:ln>
        </p:spPr>
      </p:sp>
      <p:sp>
        <p:nvSpPr>
          <p:cNvPr id="19" name="Text 15"/>
          <p:cNvSpPr/>
          <p:nvPr/>
        </p:nvSpPr>
        <p:spPr>
          <a:xfrm>
            <a:off x="8229600" y="5010912"/>
            <a:ext cx="2926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Rishi Gupta</a:t>
            </a:r>
            <a:endParaRPr lang="en-US" sz="1500" dirty="0"/>
          </a:p>
        </p:txBody>
      </p:sp>
      <p:sp>
        <p:nvSpPr>
          <p:cNvPr id="20" name="Text 16"/>
          <p:cNvSpPr/>
          <p:nvPr/>
        </p:nvSpPr>
        <p:spPr>
          <a:xfrm>
            <a:off x="8229600" y="5468112"/>
            <a:ext cx="2926080" cy="457200"/>
          </a:xfrm>
          <a:prstGeom prst="rect">
            <a:avLst/>
          </a:prstGeom>
          <a:noFill/>
          <a:ln/>
        </p:spPr>
        <p:txBody>
          <a:bodyPr wrap="square" lIns="0" tIns="0" rIns="0" bIns="0" rtlCol="0" anchor="ctr"/>
          <a:lstStyle/>
          <a:p>
            <a:pPr indent="0" marL="0">
              <a:buNone/>
            </a:pPr>
            <a:r>
              <a:rPr lang="en-US" sz="1200" dirty="0">
                <a:solidFill>
                  <a:srgbClr val="F9E795"/>
                </a:solidFill>
                <a:latin typeface="Calibri" pitchFamily="34" charset="0"/>
                <a:ea typeface="Calibri" pitchFamily="34" charset="-122"/>
                <a:cs typeface="Calibri" pitchFamily="34" charset="-120"/>
              </a:rPr>
              <a:t>Roll No. 168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Content</a:t>
            </a:r>
            <a:endParaRPr lang="en-US" sz="3200" dirty="0"/>
          </a:p>
        </p:txBody>
      </p:sp>
      <p:sp>
        <p:nvSpPr>
          <p:cNvPr id="3" name="Shape 1"/>
          <p:cNvSpPr/>
          <p:nvPr/>
        </p:nvSpPr>
        <p:spPr>
          <a:xfrm>
            <a:off x="731520" y="1554480"/>
            <a:ext cx="384048" cy="384048"/>
          </a:xfrm>
          <a:prstGeom prst="ellipse">
            <a:avLst/>
          </a:prstGeom>
          <a:solidFill>
            <a:srgbClr val="F96167"/>
          </a:solidFill>
          <a:ln/>
        </p:spPr>
      </p:sp>
      <p:sp>
        <p:nvSpPr>
          <p:cNvPr id="4" name="Text 2"/>
          <p:cNvSpPr/>
          <p:nvPr/>
        </p:nvSpPr>
        <p:spPr>
          <a:xfrm>
            <a:off x="73152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261872" y="1527048"/>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Introduction</a:t>
            </a:r>
            <a:endParaRPr lang="en-US" sz="1400" dirty="0"/>
          </a:p>
        </p:txBody>
      </p:sp>
      <p:sp>
        <p:nvSpPr>
          <p:cNvPr id="6" name="Shape 4"/>
          <p:cNvSpPr/>
          <p:nvPr/>
        </p:nvSpPr>
        <p:spPr>
          <a:xfrm>
            <a:off x="731520" y="2176272"/>
            <a:ext cx="384048" cy="384048"/>
          </a:xfrm>
          <a:prstGeom prst="ellipse">
            <a:avLst/>
          </a:prstGeom>
          <a:solidFill>
            <a:srgbClr val="F96167"/>
          </a:solidFill>
          <a:ln/>
        </p:spPr>
      </p:sp>
      <p:sp>
        <p:nvSpPr>
          <p:cNvPr id="7" name="Text 5"/>
          <p:cNvSpPr/>
          <p:nvPr/>
        </p:nvSpPr>
        <p:spPr>
          <a:xfrm>
            <a:off x="731520" y="2176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Text 6"/>
          <p:cNvSpPr/>
          <p:nvPr/>
        </p:nvSpPr>
        <p:spPr>
          <a:xfrm>
            <a:off x="1261872" y="2148840"/>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What Are Traditional Games?</a:t>
            </a:r>
            <a:endParaRPr lang="en-US" sz="1400" dirty="0"/>
          </a:p>
        </p:txBody>
      </p:sp>
      <p:sp>
        <p:nvSpPr>
          <p:cNvPr id="9" name="Shape 7"/>
          <p:cNvSpPr/>
          <p:nvPr/>
        </p:nvSpPr>
        <p:spPr>
          <a:xfrm>
            <a:off x="731520" y="2798064"/>
            <a:ext cx="384048" cy="384048"/>
          </a:xfrm>
          <a:prstGeom prst="ellipse">
            <a:avLst/>
          </a:prstGeom>
          <a:solidFill>
            <a:srgbClr val="F96167"/>
          </a:solidFill>
          <a:ln/>
        </p:spPr>
      </p:sp>
      <p:sp>
        <p:nvSpPr>
          <p:cNvPr id="10" name="Text 8"/>
          <p:cNvSpPr/>
          <p:nvPr/>
        </p:nvSpPr>
        <p:spPr>
          <a:xfrm>
            <a:off x="731520" y="2798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1" name="Text 9"/>
          <p:cNvSpPr/>
          <p:nvPr/>
        </p:nvSpPr>
        <p:spPr>
          <a:xfrm>
            <a:off x="1261872" y="2770632"/>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What Are Mobile Games?</a:t>
            </a:r>
            <a:endParaRPr lang="en-US" sz="1400" dirty="0"/>
          </a:p>
        </p:txBody>
      </p:sp>
      <p:sp>
        <p:nvSpPr>
          <p:cNvPr id="12" name="Shape 10"/>
          <p:cNvSpPr/>
          <p:nvPr/>
        </p:nvSpPr>
        <p:spPr>
          <a:xfrm>
            <a:off x="731520" y="3419856"/>
            <a:ext cx="384048" cy="384048"/>
          </a:xfrm>
          <a:prstGeom prst="ellipse">
            <a:avLst/>
          </a:prstGeom>
          <a:solidFill>
            <a:srgbClr val="F96167"/>
          </a:solidFill>
          <a:ln/>
        </p:spPr>
      </p:sp>
      <p:sp>
        <p:nvSpPr>
          <p:cNvPr id="13" name="Text 11"/>
          <p:cNvSpPr/>
          <p:nvPr/>
        </p:nvSpPr>
        <p:spPr>
          <a:xfrm>
            <a:off x="731520" y="3419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p:nvPr/>
        </p:nvSpPr>
        <p:spPr>
          <a:xfrm>
            <a:off x="1261872" y="3392424"/>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Physical &amp; Health Impact</a:t>
            </a:r>
            <a:endParaRPr lang="en-US" sz="1400" dirty="0"/>
          </a:p>
        </p:txBody>
      </p:sp>
      <p:sp>
        <p:nvSpPr>
          <p:cNvPr id="15" name="Shape 13"/>
          <p:cNvSpPr/>
          <p:nvPr/>
        </p:nvSpPr>
        <p:spPr>
          <a:xfrm>
            <a:off x="731520" y="4041648"/>
            <a:ext cx="384048" cy="384048"/>
          </a:xfrm>
          <a:prstGeom prst="ellipse">
            <a:avLst/>
          </a:prstGeom>
          <a:solidFill>
            <a:srgbClr val="F96167"/>
          </a:solidFill>
          <a:ln/>
        </p:spPr>
      </p:sp>
      <p:sp>
        <p:nvSpPr>
          <p:cNvPr id="16" name="Text 14"/>
          <p:cNvSpPr/>
          <p:nvPr/>
        </p:nvSpPr>
        <p:spPr>
          <a:xfrm>
            <a:off x="731520"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1261872" y="4014216"/>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Social Interaction &amp; Bonding</a:t>
            </a:r>
            <a:endParaRPr lang="en-US" sz="1400" dirty="0"/>
          </a:p>
        </p:txBody>
      </p:sp>
      <p:sp>
        <p:nvSpPr>
          <p:cNvPr id="18" name="Shape 16"/>
          <p:cNvSpPr/>
          <p:nvPr/>
        </p:nvSpPr>
        <p:spPr>
          <a:xfrm>
            <a:off x="731520" y="4663440"/>
            <a:ext cx="384048" cy="384048"/>
          </a:xfrm>
          <a:prstGeom prst="ellipse">
            <a:avLst/>
          </a:prstGeom>
          <a:solidFill>
            <a:srgbClr val="F96167"/>
          </a:solidFill>
          <a:ln/>
        </p:spPr>
      </p:sp>
      <p:sp>
        <p:nvSpPr>
          <p:cNvPr id="19" name="Text 17"/>
          <p:cNvSpPr/>
          <p:nvPr/>
        </p:nvSpPr>
        <p:spPr>
          <a:xfrm>
            <a:off x="731520" y="4663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0" name="Text 18"/>
          <p:cNvSpPr/>
          <p:nvPr/>
        </p:nvSpPr>
        <p:spPr>
          <a:xfrm>
            <a:off x="1261872" y="4636008"/>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Cognitive &amp; Skill Development</a:t>
            </a:r>
            <a:endParaRPr lang="en-US" sz="1400" dirty="0"/>
          </a:p>
        </p:txBody>
      </p:sp>
      <p:sp>
        <p:nvSpPr>
          <p:cNvPr id="21" name="Shape 19"/>
          <p:cNvSpPr/>
          <p:nvPr/>
        </p:nvSpPr>
        <p:spPr>
          <a:xfrm>
            <a:off x="731520" y="5285232"/>
            <a:ext cx="384048" cy="384048"/>
          </a:xfrm>
          <a:prstGeom prst="ellipse">
            <a:avLst/>
          </a:prstGeom>
          <a:solidFill>
            <a:srgbClr val="F96167"/>
          </a:solidFill>
          <a:ln/>
        </p:spPr>
      </p:sp>
      <p:sp>
        <p:nvSpPr>
          <p:cNvPr id="22" name="Text 20"/>
          <p:cNvSpPr/>
          <p:nvPr/>
        </p:nvSpPr>
        <p:spPr>
          <a:xfrm>
            <a:off x="731520" y="5285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3" name="Text 21"/>
          <p:cNvSpPr/>
          <p:nvPr/>
        </p:nvSpPr>
        <p:spPr>
          <a:xfrm>
            <a:off x="1261872" y="5257800"/>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Cost &amp; Accessibility</a:t>
            </a:r>
            <a:endParaRPr lang="en-US" sz="1400" dirty="0"/>
          </a:p>
        </p:txBody>
      </p:sp>
      <p:sp>
        <p:nvSpPr>
          <p:cNvPr id="24" name="Shape 22"/>
          <p:cNvSpPr/>
          <p:nvPr/>
        </p:nvSpPr>
        <p:spPr>
          <a:xfrm>
            <a:off x="6217920" y="1554480"/>
            <a:ext cx="384048" cy="384048"/>
          </a:xfrm>
          <a:prstGeom prst="ellipse">
            <a:avLst/>
          </a:prstGeom>
          <a:solidFill>
            <a:srgbClr val="2F3C7E"/>
          </a:solidFill>
          <a:ln/>
        </p:spPr>
      </p:sp>
      <p:sp>
        <p:nvSpPr>
          <p:cNvPr id="25" name="Text 23"/>
          <p:cNvSpPr/>
          <p:nvPr/>
        </p:nvSpPr>
        <p:spPr>
          <a:xfrm>
            <a:off x="621792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6" name="Text 24"/>
          <p:cNvSpPr/>
          <p:nvPr/>
        </p:nvSpPr>
        <p:spPr>
          <a:xfrm>
            <a:off x="6748272" y="1527048"/>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Screen Time &amp; Addiction Concerns</a:t>
            </a:r>
            <a:endParaRPr lang="en-US" sz="1400" dirty="0"/>
          </a:p>
        </p:txBody>
      </p:sp>
      <p:sp>
        <p:nvSpPr>
          <p:cNvPr id="27" name="Shape 25"/>
          <p:cNvSpPr/>
          <p:nvPr/>
        </p:nvSpPr>
        <p:spPr>
          <a:xfrm>
            <a:off x="6217920" y="2176272"/>
            <a:ext cx="384048" cy="384048"/>
          </a:xfrm>
          <a:prstGeom prst="ellipse">
            <a:avLst/>
          </a:prstGeom>
          <a:solidFill>
            <a:srgbClr val="2F3C7E"/>
          </a:solidFill>
          <a:ln/>
        </p:spPr>
      </p:sp>
      <p:sp>
        <p:nvSpPr>
          <p:cNvPr id="28" name="Text 26"/>
          <p:cNvSpPr/>
          <p:nvPr/>
        </p:nvSpPr>
        <p:spPr>
          <a:xfrm>
            <a:off x="6217920" y="2176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29" name="Text 27"/>
          <p:cNvSpPr/>
          <p:nvPr/>
        </p:nvSpPr>
        <p:spPr>
          <a:xfrm>
            <a:off x="6748272" y="2148840"/>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Cultural Value &amp; Heritage</a:t>
            </a:r>
            <a:endParaRPr lang="en-US" sz="1400" dirty="0"/>
          </a:p>
        </p:txBody>
      </p:sp>
      <p:sp>
        <p:nvSpPr>
          <p:cNvPr id="30" name="Shape 28"/>
          <p:cNvSpPr/>
          <p:nvPr/>
        </p:nvSpPr>
        <p:spPr>
          <a:xfrm>
            <a:off x="6217920" y="2798064"/>
            <a:ext cx="384048" cy="384048"/>
          </a:xfrm>
          <a:prstGeom prst="ellipse">
            <a:avLst/>
          </a:prstGeom>
          <a:solidFill>
            <a:srgbClr val="2F3C7E"/>
          </a:solidFill>
          <a:ln/>
        </p:spPr>
      </p:sp>
      <p:sp>
        <p:nvSpPr>
          <p:cNvPr id="31" name="Text 29"/>
          <p:cNvSpPr/>
          <p:nvPr/>
        </p:nvSpPr>
        <p:spPr>
          <a:xfrm>
            <a:off x="6217920" y="2798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2" name="Text 30"/>
          <p:cNvSpPr/>
          <p:nvPr/>
        </p:nvSpPr>
        <p:spPr>
          <a:xfrm>
            <a:off x="6748272" y="2770632"/>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Survey: Methodology</a:t>
            </a:r>
            <a:endParaRPr lang="en-US" sz="1400" dirty="0"/>
          </a:p>
        </p:txBody>
      </p:sp>
      <p:sp>
        <p:nvSpPr>
          <p:cNvPr id="33" name="Shape 31"/>
          <p:cNvSpPr/>
          <p:nvPr/>
        </p:nvSpPr>
        <p:spPr>
          <a:xfrm>
            <a:off x="6217920" y="3419856"/>
            <a:ext cx="384048" cy="384048"/>
          </a:xfrm>
          <a:prstGeom prst="ellipse">
            <a:avLst/>
          </a:prstGeom>
          <a:solidFill>
            <a:srgbClr val="2F3C7E"/>
          </a:solidFill>
          <a:ln/>
        </p:spPr>
      </p:sp>
      <p:sp>
        <p:nvSpPr>
          <p:cNvPr id="34" name="Text 32"/>
          <p:cNvSpPr/>
          <p:nvPr/>
        </p:nvSpPr>
        <p:spPr>
          <a:xfrm>
            <a:off x="6217920" y="3419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5" name="Text 33"/>
          <p:cNvSpPr/>
          <p:nvPr/>
        </p:nvSpPr>
        <p:spPr>
          <a:xfrm>
            <a:off x="6748272" y="3392424"/>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Survey: Findings</a:t>
            </a:r>
            <a:endParaRPr lang="en-US" sz="1400" dirty="0"/>
          </a:p>
        </p:txBody>
      </p:sp>
      <p:sp>
        <p:nvSpPr>
          <p:cNvPr id="36" name="Shape 34"/>
          <p:cNvSpPr/>
          <p:nvPr/>
        </p:nvSpPr>
        <p:spPr>
          <a:xfrm>
            <a:off x="6217920" y="4041648"/>
            <a:ext cx="384048" cy="384048"/>
          </a:xfrm>
          <a:prstGeom prst="ellipse">
            <a:avLst/>
          </a:prstGeom>
          <a:solidFill>
            <a:srgbClr val="2F3C7E"/>
          </a:solidFill>
          <a:ln/>
        </p:spPr>
      </p:sp>
      <p:sp>
        <p:nvSpPr>
          <p:cNvPr id="37" name="Text 35"/>
          <p:cNvSpPr/>
          <p:nvPr/>
        </p:nvSpPr>
        <p:spPr>
          <a:xfrm>
            <a:off x="6217920"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38" name="Text 36"/>
          <p:cNvSpPr/>
          <p:nvPr/>
        </p:nvSpPr>
        <p:spPr>
          <a:xfrm>
            <a:off x="6748272" y="4014216"/>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Conclusion</a:t>
            </a:r>
            <a:endParaRPr lang="en-US" sz="1400" dirty="0"/>
          </a:p>
        </p:txBody>
      </p:sp>
      <p:sp>
        <p:nvSpPr>
          <p:cNvPr id="39" name="Shape 37"/>
          <p:cNvSpPr/>
          <p:nvPr/>
        </p:nvSpPr>
        <p:spPr>
          <a:xfrm>
            <a:off x="6217920" y="4663440"/>
            <a:ext cx="384048" cy="384048"/>
          </a:xfrm>
          <a:prstGeom prst="ellipse">
            <a:avLst/>
          </a:prstGeom>
          <a:solidFill>
            <a:srgbClr val="2F3C7E"/>
          </a:solidFill>
          <a:ln/>
        </p:spPr>
      </p:sp>
      <p:sp>
        <p:nvSpPr>
          <p:cNvPr id="40" name="Text 38"/>
          <p:cNvSpPr/>
          <p:nvPr/>
        </p:nvSpPr>
        <p:spPr>
          <a:xfrm>
            <a:off x="6217920" y="4663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1" name="Text 39"/>
          <p:cNvSpPr/>
          <p:nvPr/>
        </p:nvSpPr>
        <p:spPr>
          <a:xfrm>
            <a:off x="6748272" y="4636008"/>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Bibliography</a:t>
            </a:r>
            <a:endParaRPr lang="en-US" sz="1400" dirty="0"/>
          </a:p>
        </p:txBody>
      </p:sp>
      <p:sp>
        <p:nvSpPr>
          <p:cNvPr id="42" name="Shape 40"/>
          <p:cNvSpPr/>
          <p:nvPr/>
        </p:nvSpPr>
        <p:spPr>
          <a:xfrm>
            <a:off x="6217920" y="5285232"/>
            <a:ext cx="384048" cy="384048"/>
          </a:xfrm>
          <a:prstGeom prst="ellipse">
            <a:avLst/>
          </a:prstGeom>
          <a:solidFill>
            <a:srgbClr val="2F3C7E"/>
          </a:solidFill>
          <a:ln/>
        </p:spPr>
      </p:sp>
      <p:sp>
        <p:nvSpPr>
          <p:cNvPr id="43" name="Text 41"/>
          <p:cNvSpPr/>
          <p:nvPr/>
        </p:nvSpPr>
        <p:spPr>
          <a:xfrm>
            <a:off x="6217920" y="5285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4" name="Text 42"/>
          <p:cNvSpPr/>
          <p:nvPr/>
        </p:nvSpPr>
        <p:spPr>
          <a:xfrm>
            <a:off x="6748272" y="5257800"/>
            <a:ext cx="4572000" cy="438912"/>
          </a:xfrm>
          <a:prstGeom prst="rect">
            <a:avLst/>
          </a:prstGeom>
          <a:noFill/>
          <a:ln/>
        </p:spPr>
        <p:txBody>
          <a:bodyPr wrap="square" lIns="0" tIns="0" rIns="0" bIns="0" rtlCol="0" anchor="ctr"/>
          <a:lstStyle/>
          <a:p>
            <a:pPr indent="0" marL="0">
              <a:buNone/>
            </a:pPr>
            <a:r>
              <a:rPr lang="en-US" sz="1400" dirty="0">
                <a:solidFill>
                  <a:srgbClr val="242424"/>
                </a:solidFill>
                <a:latin typeface="Calibri" pitchFamily="34" charset="0"/>
                <a:ea typeface="Calibri" pitchFamily="34" charset="-122"/>
                <a:cs typeface="Calibri" pitchFamily="34" charset="-120"/>
              </a:rPr>
              <a:t>Acknowledgment</a:t>
            </a:r>
            <a:endParaRPr lang="en-US" sz="1400" dirty="0"/>
          </a:p>
        </p:txBody>
      </p:sp>
      <p:sp>
        <p:nvSpPr>
          <p:cNvPr id="45" name="Text 43"/>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46" name="Text 44"/>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Introduction</a:t>
            </a:r>
            <a:endParaRPr lang="en-US" sz="3200" dirty="0"/>
          </a:p>
        </p:txBody>
      </p:sp>
      <p:sp>
        <p:nvSpPr>
          <p:cNvPr id="3" name="Shape 1"/>
          <p:cNvSpPr/>
          <p:nvPr/>
        </p:nvSpPr>
        <p:spPr>
          <a:xfrm>
            <a:off x="7863840" y="1463040"/>
            <a:ext cx="3657600" cy="4206240"/>
          </a:xfrm>
          <a:prstGeom prst="roundRect">
            <a:avLst>
              <a:gd name="adj" fmla="val 3750"/>
            </a:avLst>
          </a:prstGeom>
          <a:solidFill>
            <a:srgbClr val="2F3C7E"/>
          </a:solidFill>
          <a:ln/>
        </p:spPr>
      </p:sp>
      <p:pic>
        <p:nvPicPr>
          <p:cNvPr id="4" name="Image 0" descr="/home/claude/ppt/icons/gamepad_gold.png">    </p:cNvPr>
          <p:cNvPicPr>
            <a:picLocks noChangeAspect="1"/>
          </p:cNvPicPr>
          <p:nvPr/>
        </p:nvPicPr>
        <p:blipFill>
          <a:blip r:embed="rId1"/>
          <a:stretch>
            <a:fillRect/>
          </a:stretch>
        </p:blipFill>
        <p:spPr>
          <a:xfrm>
            <a:off x="9281160" y="1920240"/>
            <a:ext cx="822960" cy="822960"/>
          </a:xfrm>
          <a:prstGeom prst="rect">
            <a:avLst/>
          </a:prstGeom>
        </p:spPr>
      </p:pic>
      <p:sp>
        <p:nvSpPr>
          <p:cNvPr id="5" name="Text 2"/>
          <p:cNvSpPr/>
          <p:nvPr/>
        </p:nvSpPr>
        <p:spPr>
          <a:xfrm>
            <a:off x="8183880" y="2926080"/>
            <a:ext cx="3017520" cy="1005840"/>
          </a:xfrm>
          <a:prstGeom prst="rect">
            <a:avLst/>
          </a:prstGeom>
          <a:noFill/>
          <a:ln/>
        </p:spPr>
        <p:txBody>
          <a:bodyPr wrap="square" lIns="0" tIns="0" rIns="0" bIns="0" rtlCol="0" anchor="ctr"/>
          <a:lstStyle/>
          <a:p>
            <a:pPr algn="ctr" indent="0" marL="0">
              <a:buNone/>
            </a:pPr>
            <a:r>
              <a:rPr lang="en-US" sz="1500" i="1" dirty="0">
                <a:solidFill>
                  <a:srgbClr val="F9E795"/>
                </a:solidFill>
                <a:latin typeface="Cambria" pitchFamily="34" charset="0"/>
                <a:ea typeface="Cambria" pitchFamily="34" charset="-122"/>
                <a:cs typeface="Cambria" pitchFamily="34" charset="-120"/>
              </a:rPr>
              <a:t>Play has always</a:t>
            </a:r>
            <a:endParaRPr lang="en-US" sz="1500" dirty="0"/>
          </a:p>
          <a:p>
            <a:pPr algn="ctr" indent="0" marL="0">
              <a:buNone/>
            </a:pPr>
            <a:r>
              <a:rPr lang="en-US" sz="1500" i="1" dirty="0">
                <a:solidFill>
                  <a:srgbClr val="F9E795"/>
                </a:solidFill>
                <a:latin typeface="Cambria" pitchFamily="34" charset="0"/>
                <a:ea typeface="Cambria" pitchFamily="34" charset="-122"/>
                <a:cs typeface="Cambria" pitchFamily="34" charset="-120"/>
              </a:rPr>
              <a:t>followed technology.</a:t>
            </a:r>
            <a:endParaRPr lang="en-US" sz="1500" dirty="0"/>
          </a:p>
        </p:txBody>
      </p:sp>
      <p:sp>
        <p:nvSpPr>
          <p:cNvPr id="6" name="Shape 3"/>
          <p:cNvSpPr/>
          <p:nvPr/>
        </p:nvSpPr>
        <p:spPr>
          <a:xfrm>
            <a:off x="8595360" y="3977640"/>
            <a:ext cx="2011680" cy="0"/>
          </a:xfrm>
          <a:prstGeom prst="line">
            <a:avLst/>
          </a:prstGeom>
          <a:noFill/>
          <a:ln w="19050">
            <a:solidFill>
              <a:srgbClr val="F96167"/>
            </a:solidFill>
            <a:prstDash val="solid"/>
          </a:ln>
        </p:spPr>
      </p:sp>
      <p:sp>
        <p:nvSpPr>
          <p:cNvPr id="7" name="Text 4"/>
          <p:cNvSpPr/>
          <p:nvPr/>
        </p:nvSpPr>
        <p:spPr>
          <a:xfrm>
            <a:off x="8183880" y="4160520"/>
            <a:ext cx="3017520" cy="13716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From street corners to smartphone screens, the way children and adults play has been reshaped by technology.</a:t>
            </a:r>
            <a:endParaRPr lang="en-US" sz="1150" dirty="0"/>
          </a:p>
        </p:txBody>
      </p:sp>
      <p:sp>
        <p:nvSpPr>
          <p:cNvPr id="8" name="Shape 5"/>
          <p:cNvSpPr/>
          <p:nvPr/>
        </p:nvSpPr>
        <p:spPr>
          <a:xfrm>
            <a:off x="548640" y="1417320"/>
            <a:ext cx="128016" cy="868680"/>
          </a:xfrm>
          <a:prstGeom prst="roundRect">
            <a:avLst/>
          </a:prstGeom>
          <a:solidFill>
            <a:srgbClr val="F96167"/>
          </a:solidFill>
          <a:ln/>
        </p:spPr>
      </p:sp>
      <p:sp>
        <p:nvSpPr>
          <p:cNvPr id="9" name="Text 6"/>
          <p:cNvSpPr/>
          <p:nvPr/>
        </p:nvSpPr>
        <p:spPr>
          <a:xfrm>
            <a:off x="868680" y="1371600"/>
            <a:ext cx="6675120" cy="960120"/>
          </a:xfrm>
          <a:prstGeom prst="rect">
            <a:avLst/>
          </a:prstGeom>
          <a:noFill/>
          <a:ln/>
        </p:spPr>
        <p:txBody>
          <a:bodyPr wrap="square" lIns="0" tIns="0" rIns="0" bIns="0" rtlCol="0" anchor="ctr"/>
          <a:lstStyle/>
          <a:p>
            <a:pPr indent="0" marL="0">
              <a:buNone/>
            </a:pPr>
            <a:r>
              <a:rPr lang="en-US" sz="1300" dirty="0">
                <a:solidFill>
                  <a:srgbClr val="242424"/>
                </a:solidFill>
                <a:latin typeface="Calibri" pitchFamily="34" charset="0"/>
                <a:ea typeface="Calibri" pitchFamily="34" charset="-122"/>
                <a:cs typeface="Calibri" pitchFamily="34" charset="-120"/>
              </a:rPr>
              <a:t>Games have always been central to human life — a way to build friendships, sharpen skills, and pass down culture across generations.</a:t>
            </a:r>
            <a:endParaRPr lang="en-US" sz="1300" dirty="0"/>
          </a:p>
        </p:txBody>
      </p:sp>
      <p:sp>
        <p:nvSpPr>
          <p:cNvPr id="10" name="Shape 7"/>
          <p:cNvSpPr/>
          <p:nvPr/>
        </p:nvSpPr>
        <p:spPr>
          <a:xfrm>
            <a:off x="548640" y="2468880"/>
            <a:ext cx="128016" cy="868680"/>
          </a:xfrm>
          <a:prstGeom prst="roundRect">
            <a:avLst/>
          </a:prstGeom>
          <a:solidFill>
            <a:srgbClr val="2F3C7E"/>
          </a:solidFill>
          <a:ln/>
        </p:spPr>
      </p:sp>
      <p:sp>
        <p:nvSpPr>
          <p:cNvPr id="11" name="Text 8"/>
          <p:cNvSpPr/>
          <p:nvPr/>
        </p:nvSpPr>
        <p:spPr>
          <a:xfrm>
            <a:off x="868680" y="2423160"/>
            <a:ext cx="6675120" cy="960120"/>
          </a:xfrm>
          <a:prstGeom prst="rect">
            <a:avLst/>
          </a:prstGeom>
          <a:noFill/>
          <a:ln/>
        </p:spPr>
        <p:txBody>
          <a:bodyPr wrap="square" lIns="0" tIns="0" rIns="0" bIns="0" rtlCol="0" anchor="ctr"/>
          <a:lstStyle/>
          <a:p>
            <a:pPr indent="0" marL="0">
              <a:buNone/>
            </a:pPr>
            <a:r>
              <a:rPr lang="en-US" sz="1300" dirty="0">
                <a:solidFill>
                  <a:srgbClr val="242424"/>
                </a:solidFill>
                <a:latin typeface="Calibri" pitchFamily="34" charset="0"/>
                <a:ea typeface="Calibri" pitchFamily="34" charset="-122"/>
                <a:cs typeface="Calibri" pitchFamily="34" charset="-120"/>
              </a:rPr>
              <a:t>For decades, children in India and around the world grew up playing kabaddi, kho-kho, marbles, hopscotch, and gilli-danda in open fields and courtyards.</a:t>
            </a:r>
            <a:endParaRPr lang="en-US" sz="1300" dirty="0"/>
          </a:p>
        </p:txBody>
      </p:sp>
      <p:sp>
        <p:nvSpPr>
          <p:cNvPr id="12" name="Shape 9"/>
          <p:cNvSpPr/>
          <p:nvPr/>
        </p:nvSpPr>
        <p:spPr>
          <a:xfrm>
            <a:off x="548640" y="3520440"/>
            <a:ext cx="128016" cy="868680"/>
          </a:xfrm>
          <a:prstGeom prst="roundRect">
            <a:avLst/>
          </a:prstGeom>
          <a:solidFill>
            <a:srgbClr val="F96167"/>
          </a:solidFill>
          <a:ln/>
        </p:spPr>
      </p:sp>
      <p:sp>
        <p:nvSpPr>
          <p:cNvPr id="13" name="Text 10"/>
          <p:cNvSpPr/>
          <p:nvPr/>
        </p:nvSpPr>
        <p:spPr>
          <a:xfrm>
            <a:off x="868680" y="3474720"/>
            <a:ext cx="6675120" cy="960120"/>
          </a:xfrm>
          <a:prstGeom prst="rect">
            <a:avLst/>
          </a:prstGeom>
          <a:noFill/>
          <a:ln/>
        </p:spPr>
        <p:txBody>
          <a:bodyPr wrap="square" lIns="0" tIns="0" rIns="0" bIns="0" rtlCol="0" anchor="ctr"/>
          <a:lstStyle/>
          <a:p>
            <a:pPr indent="0" marL="0">
              <a:buNone/>
            </a:pPr>
            <a:r>
              <a:rPr lang="en-US" sz="1300" dirty="0">
                <a:solidFill>
                  <a:srgbClr val="242424"/>
                </a:solidFill>
                <a:latin typeface="Calibri" pitchFamily="34" charset="0"/>
                <a:ea typeface="Calibri" pitchFamily="34" charset="-122"/>
                <a:cs typeface="Calibri" pitchFamily="34" charset="-120"/>
              </a:rPr>
              <a:t>The rise of smartphones has introduced a new form of play: mobile games — accessible instantly, playable alone, and often designed to be highly engaging.</a:t>
            </a:r>
            <a:endParaRPr lang="en-US" sz="1300" dirty="0"/>
          </a:p>
        </p:txBody>
      </p:sp>
      <p:sp>
        <p:nvSpPr>
          <p:cNvPr id="14" name="Shape 11"/>
          <p:cNvSpPr/>
          <p:nvPr/>
        </p:nvSpPr>
        <p:spPr>
          <a:xfrm>
            <a:off x="548640" y="4572000"/>
            <a:ext cx="128016" cy="868680"/>
          </a:xfrm>
          <a:prstGeom prst="roundRect">
            <a:avLst/>
          </a:prstGeom>
          <a:solidFill>
            <a:srgbClr val="2F3C7E"/>
          </a:solidFill>
          <a:ln/>
        </p:spPr>
      </p:sp>
      <p:sp>
        <p:nvSpPr>
          <p:cNvPr id="15" name="Text 12"/>
          <p:cNvSpPr/>
          <p:nvPr/>
        </p:nvSpPr>
        <p:spPr>
          <a:xfrm>
            <a:off x="868680" y="4526280"/>
            <a:ext cx="6675120" cy="960120"/>
          </a:xfrm>
          <a:prstGeom prst="rect">
            <a:avLst/>
          </a:prstGeom>
          <a:noFill/>
          <a:ln/>
        </p:spPr>
        <p:txBody>
          <a:bodyPr wrap="square" lIns="0" tIns="0" rIns="0" bIns="0" rtlCol="0" anchor="ctr"/>
          <a:lstStyle/>
          <a:p>
            <a:pPr indent="0" marL="0">
              <a:buNone/>
            </a:pPr>
            <a:r>
              <a:rPr lang="en-US" sz="1300" dirty="0">
                <a:solidFill>
                  <a:srgbClr val="242424"/>
                </a:solidFill>
                <a:latin typeface="Calibri" pitchFamily="34" charset="0"/>
                <a:ea typeface="Calibri" pitchFamily="34" charset="-122"/>
                <a:cs typeface="Calibri" pitchFamily="34" charset="-120"/>
              </a:rPr>
              <a:t>This presentation compares the two forms of play across health, social, cognitive, economic, and cultural dimensions, supported by a short primary survey.</a:t>
            </a:r>
            <a:endParaRPr lang="en-US" sz="1300" dirty="0"/>
          </a:p>
        </p:txBody>
      </p:sp>
      <p:sp>
        <p:nvSpPr>
          <p:cNvPr id="16" name="Text 13"/>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17" name="Text 14"/>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F96167"/>
                </a:solidFill>
                <a:latin typeface="Cambria" pitchFamily="34" charset="0"/>
                <a:ea typeface="Cambria" pitchFamily="34" charset="-122"/>
                <a:cs typeface="Cambria" pitchFamily="34" charset="-120"/>
              </a:rPr>
              <a:t>What Are Traditional Games?</a:t>
            </a:r>
            <a:endParaRPr lang="en-US" sz="3200" dirty="0"/>
          </a:p>
        </p:txBody>
      </p:sp>
      <p:sp>
        <p:nvSpPr>
          <p:cNvPr id="3" name="Text 1"/>
          <p:cNvSpPr/>
          <p:nvPr/>
        </p:nvSpPr>
        <p:spPr>
          <a:xfrm>
            <a:off x="548640" y="1188720"/>
            <a:ext cx="5577840" cy="1005840"/>
          </a:xfrm>
          <a:prstGeom prst="rect">
            <a:avLst/>
          </a:prstGeom>
          <a:noFill/>
          <a:ln/>
        </p:spPr>
        <p:txBody>
          <a:bodyPr wrap="square" lIns="0" tIns="0" rIns="0" bIns="0" rtlCol="0" anchor="ctr"/>
          <a:lstStyle/>
          <a:p>
            <a:pPr indent="0" marL="0">
              <a:buNone/>
            </a:pPr>
            <a:r>
              <a:rPr lang="en-US" sz="1350" dirty="0">
                <a:solidFill>
                  <a:srgbClr val="242424"/>
                </a:solidFill>
                <a:latin typeface="Calibri" pitchFamily="34" charset="0"/>
                <a:ea typeface="Calibri" pitchFamily="34" charset="-122"/>
                <a:cs typeface="Calibri" pitchFamily="34" charset="-120"/>
              </a:rPr>
              <a:t>Games passed down through generations, usually played outdoors with minimal or no equipment, relying on physical activity and group participation.</a:t>
            </a:r>
            <a:endParaRPr lang="en-US" sz="1350" dirty="0"/>
          </a:p>
        </p:txBody>
      </p:sp>
      <p:sp>
        <p:nvSpPr>
          <p:cNvPr id="4" name="Shape 2"/>
          <p:cNvSpPr/>
          <p:nvPr/>
        </p:nvSpPr>
        <p:spPr>
          <a:xfrm>
            <a:off x="548640" y="2331720"/>
            <a:ext cx="1691640" cy="2377440"/>
          </a:xfrm>
          <a:prstGeom prst="roundRect">
            <a:avLst>
              <a:gd name="adj" fmla="val 5405"/>
            </a:avLst>
          </a:prstGeom>
          <a:solidFill>
            <a:srgbClr val="FFFFFF"/>
          </a:solidFill>
          <a:ln w="12700">
            <a:solidFill>
              <a:srgbClr val="F96167"/>
            </a:solidFill>
            <a:prstDash val="solid"/>
          </a:ln>
          <a:effectLst>
            <a:outerShdw sx="100000" sy="100000" kx="0" ky="0" algn="bl" rotWithShape="0" blurRad="63500" dist="25400" dir="5400000">
              <a:srgbClr val="888888">
                <a:alpha val="22000"/>
              </a:srgbClr>
            </a:outerShdw>
          </a:effectLst>
        </p:spPr>
      </p:sp>
      <p:sp>
        <p:nvSpPr>
          <p:cNvPr id="5" name="Shape 3"/>
          <p:cNvSpPr/>
          <p:nvPr/>
        </p:nvSpPr>
        <p:spPr>
          <a:xfrm>
            <a:off x="1028700" y="2542032"/>
            <a:ext cx="731520" cy="731520"/>
          </a:xfrm>
          <a:prstGeom prst="ellipse">
            <a:avLst/>
          </a:prstGeom>
          <a:solidFill>
            <a:srgbClr val="FDEDEE"/>
          </a:solidFill>
          <a:ln/>
        </p:spPr>
      </p:sp>
      <p:pic>
        <p:nvPicPr>
          <p:cNvPr id="6" name="Image 0" descr="/home/claude/ppt/icons/marbles_coral.png">    </p:cNvPr>
          <p:cNvPicPr>
            <a:picLocks noChangeAspect="1"/>
          </p:cNvPicPr>
          <p:nvPr/>
        </p:nvPicPr>
        <p:blipFill>
          <a:blip r:embed="rId1"/>
          <a:stretch>
            <a:fillRect/>
          </a:stretch>
        </p:blipFill>
        <p:spPr>
          <a:xfrm>
            <a:off x="1165860" y="2679192"/>
            <a:ext cx="457200" cy="457200"/>
          </a:xfrm>
          <a:prstGeom prst="rect">
            <a:avLst/>
          </a:prstGeom>
        </p:spPr>
      </p:pic>
      <p:sp>
        <p:nvSpPr>
          <p:cNvPr id="7" name="Text 4"/>
          <p:cNvSpPr/>
          <p:nvPr/>
        </p:nvSpPr>
        <p:spPr>
          <a:xfrm>
            <a:off x="603504" y="3364992"/>
            <a:ext cx="1581912" cy="457200"/>
          </a:xfrm>
          <a:prstGeom prst="rect">
            <a:avLst/>
          </a:prstGeom>
          <a:noFill/>
          <a:ln/>
        </p:spPr>
        <p:txBody>
          <a:bodyPr wrap="square" lIns="0" tIns="0" rIns="0" bIns="0" rtlCol="0" anchor="ctr"/>
          <a:lstStyle/>
          <a:p>
            <a:pPr algn="ctr" indent="0" marL="0">
              <a:buNone/>
            </a:pPr>
            <a:r>
              <a:rPr lang="en-US" sz="1100" b="1" dirty="0">
                <a:solidFill>
                  <a:srgbClr val="2F3C7E"/>
                </a:solidFill>
                <a:latin typeface="Calibri" pitchFamily="34" charset="0"/>
                <a:ea typeface="Calibri" pitchFamily="34" charset="-122"/>
                <a:cs typeface="Calibri" pitchFamily="34" charset="-120"/>
              </a:rPr>
              <a:t>Kancha (Marbles)</a:t>
            </a:r>
            <a:endParaRPr lang="en-US" sz="1100" dirty="0"/>
          </a:p>
        </p:txBody>
      </p:sp>
      <p:sp>
        <p:nvSpPr>
          <p:cNvPr id="8" name="Text 5"/>
          <p:cNvSpPr/>
          <p:nvPr/>
        </p:nvSpPr>
        <p:spPr>
          <a:xfrm>
            <a:off x="621792" y="3822192"/>
            <a:ext cx="1545336" cy="82296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Precision &amp; strategy with simple stones</a:t>
            </a:r>
            <a:endParaRPr lang="en-US" sz="950" dirty="0"/>
          </a:p>
        </p:txBody>
      </p:sp>
      <p:sp>
        <p:nvSpPr>
          <p:cNvPr id="9" name="Shape 6"/>
          <p:cNvSpPr/>
          <p:nvPr/>
        </p:nvSpPr>
        <p:spPr>
          <a:xfrm>
            <a:off x="2423160" y="2331720"/>
            <a:ext cx="1691640" cy="2377440"/>
          </a:xfrm>
          <a:prstGeom prst="roundRect">
            <a:avLst>
              <a:gd name="adj" fmla="val 5405"/>
            </a:avLst>
          </a:prstGeom>
          <a:solidFill>
            <a:srgbClr val="FFFFFF"/>
          </a:solidFill>
          <a:ln w="12700">
            <a:solidFill>
              <a:srgbClr val="F96167"/>
            </a:solidFill>
            <a:prstDash val="solid"/>
          </a:ln>
          <a:effectLst>
            <a:outerShdw sx="100000" sy="100000" kx="0" ky="0" algn="bl" rotWithShape="0" blurRad="63500" dist="25400" dir="5400000">
              <a:srgbClr val="888888">
                <a:alpha val="22000"/>
              </a:srgbClr>
            </a:outerShdw>
          </a:effectLst>
        </p:spPr>
      </p:sp>
      <p:sp>
        <p:nvSpPr>
          <p:cNvPr id="10" name="Shape 7"/>
          <p:cNvSpPr/>
          <p:nvPr/>
        </p:nvSpPr>
        <p:spPr>
          <a:xfrm>
            <a:off x="2903220" y="2542032"/>
            <a:ext cx="731520" cy="731520"/>
          </a:xfrm>
          <a:prstGeom prst="ellipse">
            <a:avLst/>
          </a:prstGeom>
          <a:solidFill>
            <a:srgbClr val="FDEDEE"/>
          </a:solidFill>
          <a:ln/>
        </p:spPr>
      </p:sp>
      <p:pic>
        <p:nvPicPr>
          <p:cNvPr id="11" name="Image 1" descr="/home/claude/ppt/icons/kabaddi_coral.png">    </p:cNvPr>
          <p:cNvPicPr>
            <a:picLocks noChangeAspect="1"/>
          </p:cNvPicPr>
          <p:nvPr/>
        </p:nvPicPr>
        <p:blipFill>
          <a:blip r:embed="rId2"/>
          <a:stretch>
            <a:fillRect/>
          </a:stretch>
        </p:blipFill>
        <p:spPr>
          <a:xfrm>
            <a:off x="3040380" y="2679192"/>
            <a:ext cx="457200" cy="457200"/>
          </a:xfrm>
          <a:prstGeom prst="rect">
            <a:avLst/>
          </a:prstGeom>
        </p:spPr>
      </p:pic>
      <p:sp>
        <p:nvSpPr>
          <p:cNvPr id="12" name="Text 8"/>
          <p:cNvSpPr/>
          <p:nvPr/>
        </p:nvSpPr>
        <p:spPr>
          <a:xfrm>
            <a:off x="2478024" y="3364992"/>
            <a:ext cx="1581912" cy="457200"/>
          </a:xfrm>
          <a:prstGeom prst="rect">
            <a:avLst/>
          </a:prstGeom>
          <a:noFill/>
          <a:ln/>
        </p:spPr>
        <p:txBody>
          <a:bodyPr wrap="square" lIns="0" tIns="0" rIns="0" bIns="0" rtlCol="0" anchor="ctr"/>
          <a:lstStyle/>
          <a:p>
            <a:pPr algn="ctr" indent="0" marL="0">
              <a:buNone/>
            </a:pPr>
            <a:r>
              <a:rPr lang="en-US" sz="1100" b="1" dirty="0">
                <a:solidFill>
                  <a:srgbClr val="2F3C7E"/>
                </a:solidFill>
                <a:latin typeface="Calibri" pitchFamily="34" charset="0"/>
                <a:ea typeface="Calibri" pitchFamily="34" charset="-122"/>
                <a:cs typeface="Calibri" pitchFamily="34" charset="-120"/>
              </a:rPr>
              <a:t>Kabaddi</a:t>
            </a:r>
            <a:endParaRPr lang="en-US" sz="1100" dirty="0"/>
          </a:p>
        </p:txBody>
      </p:sp>
      <p:sp>
        <p:nvSpPr>
          <p:cNvPr id="13" name="Text 9"/>
          <p:cNvSpPr/>
          <p:nvPr/>
        </p:nvSpPr>
        <p:spPr>
          <a:xfrm>
            <a:off x="2496312" y="3822192"/>
            <a:ext cx="1545336" cy="82296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Team stamina, strength &amp; tactics</a:t>
            </a:r>
            <a:endParaRPr lang="en-US" sz="950" dirty="0"/>
          </a:p>
        </p:txBody>
      </p:sp>
      <p:sp>
        <p:nvSpPr>
          <p:cNvPr id="14" name="Shape 10"/>
          <p:cNvSpPr/>
          <p:nvPr/>
        </p:nvSpPr>
        <p:spPr>
          <a:xfrm>
            <a:off x="4297680" y="2331720"/>
            <a:ext cx="1691640" cy="2377440"/>
          </a:xfrm>
          <a:prstGeom prst="roundRect">
            <a:avLst>
              <a:gd name="adj" fmla="val 5405"/>
            </a:avLst>
          </a:prstGeom>
          <a:solidFill>
            <a:srgbClr val="FFFFFF"/>
          </a:solidFill>
          <a:ln w="12700">
            <a:solidFill>
              <a:srgbClr val="F96167"/>
            </a:solidFill>
            <a:prstDash val="solid"/>
          </a:ln>
          <a:effectLst>
            <a:outerShdw sx="100000" sy="100000" kx="0" ky="0" algn="bl" rotWithShape="0" blurRad="63500" dist="25400" dir="5400000">
              <a:srgbClr val="888888">
                <a:alpha val="22000"/>
              </a:srgbClr>
            </a:outerShdw>
          </a:effectLst>
        </p:spPr>
      </p:sp>
      <p:sp>
        <p:nvSpPr>
          <p:cNvPr id="15" name="Shape 11"/>
          <p:cNvSpPr/>
          <p:nvPr/>
        </p:nvSpPr>
        <p:spPr>
          <a:xfrm>
            <a:off x="4777740" y="2542032"/>
            <a:ext cx="731520" cy="731520"/>
          </a:xfrm>
          <a:prstGeom prst="ellipse">
            <a:avLst/>
          </a:prstGeom>
          <a:solidFill>
            <a:srgbClr val="FDEDEE"/>
          </a:solidFill>
          <a:ln/>
        </p:spPr>
      </p:sp>
      <p:pic>
        <p:nvPicPr>
          <p:cNvPr id="16" name="Image 2" descr="/home/claude/ppt/icons/hopscotch_coral.png">    </p:cNvPr>
          <p:cNvPicPr>
            <a:picLocks noChangeAspect="1"/>
          </p:cNvPicPr>
          <p:nvPr/>
        </p:nvPicPr>
        <p:blipFill>
          <a:blip r:embed="rId3"/>
          <a:stretch>
            <a:fillRect/>
          </a:stretch>
        </p:blipFill>
        <p:spPr>
          <a:xfrm>
            <a:off x="4914900" y="2679192"/>
            <a:ext cx="457200" cy="457200"/>
          </a:xfrm>
          <a:prstGeom prst="rect">
            <a:avLst/>
          </a:prstGeom>
        </p:spPr>
      </p:pic>
      <p:sp>
        <p:nvSpPr>
          <p:cNvPr id="17" name="Text 12"/>
          <p:cNvSpPr/>
          <p:nvPr/>
        </p:nvSpPr>
        <p:spPr>
          <a:xfrm>
            <a:off x="4352544" y="3364992"/>
            <a:ext cx="1581912" cy="457200"/>
          </a:xfrm>
          <a:prstGeom prst="rect">
            <a:avLst/>
          </a:prstGeom>
          <a:noFill/>
          <a:ln/>
        </p:spPr>
        <p:txBody>
          <a:bodyPr wrap="square" lIns="0" tIns="0" rIns="0" bIns="0" rtlCol="0" anchor="ctr"/>
          <a:lstStyle/>
          <a:p>
            <a:pPr algn="ctr" indent="0" marL="0">
              <a:buNone/>
            </a:pPr>
            <a:r>
              <a:rPr lang="en-US" sz="1100" b="1" dirty="0">
                <a:solidFill>
                  <a:srgbClr val="2F3C7E"/>
                </a:solidFill>
                <a:latin typeface="Calibri" pitchFamily="34" charset="0"/>
                <a:ea typeface="Calibri" pitchFamily="34" charset="-122"/>
                <a:cs typeface="Calibri" pitchFamily="34" charset="-120"/>
              </a:rPr>
              <a:t>Hopscotch</a:t>
            </a:r>
            <a:endParaRPr lang="en-US" sz="1100" dirty="0"/>
          </a:p>
        </p:txBody>
      </p:sp>
      <p:sp>
        <p:nvSpPr>
          <p:cNvPr id="18" name="Text 13"/>
          <p:cNvSpPr/>
          <p:nvPr/>
        </p:nvSpPr>
        <p:spPr>
          <a:xfrm>
            <a:off x="4370832" y="3822192"/>
            <a:ext cx="1545336" cy="82296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Balance &amp; coordination on a chalk grid</a:t>
            </a:r>
            <a:endParaRPr lang="en-US" sz="950" dirty="0"/>
          </a:p>
        </p:txBody>
      </p:sp>
      <p:sp>
        <p:nvSpPr>
          <p:cNvPr id="19" name="Shape 14"/>
          <p:cNvSpPr/>
          <p:nvPr/>
        </p:nvSpPr>
        <p:spPr>
          <a:xfrm>
            <a:off x="6537960" y="1234440"/>
            <a:ext cx="5074920" cy="5074920"/>
          </a:xfrm>
          <a:prstGeom prst="roundRect">
            <a:avLst>
              <a:gd name="adj" fmla="val 2703"/>
            </a:avLst>
          </a:prstGeom>
          <a:solidFill>
            <a:srgbClr val="FFFFFF"/>
          </a:solidFill>
          <a:ln/>
          <a:effectLst>
            <a:outerShdw sx="100000" sy="100000" kx="0" ky="0" algn="bl" rotWithShape="0" blurRad="127000" dist="38100" dir="5400000">
              <a:srgbClr val="888888">
                <a:alpha val="30000"/>
              </a:srgbClr>
            </a:outerShdw>
          </a:effectLst>
        </p:spPr>
      </p:sp>
      <p:pic>
        <p:nvPicPr>
          <p:cNvPr id="20" name="Image 3" descr="/home/claude/ppt/icons/hero_traditional.png">    </p:cNvPr>
          <p:cNvPicPr>
            <a:picLocks noChangeAspect="1"/>
          </p:cNvPicPr>
          <p:nvPr/>
        </p:nvPicPr>
        <p:blipFill>
          <a:blip r:embed="rId4"/>
          <a:stretch>
            <a:fillRect/>
          </a:stretch>
        </p:blipFill>
        <p:spPr>
          <a:xfrm>
            <a:off x="6629400" y="1325880"/>
            <a:ext cx="4892040" cy="4892040"/>
          </a:xfrm>
          <a:prstGeom prst="rect">
            <a:avLst/>
          </a:prstGeom>
        </p:spPr>
      </p:pic>
      <p:sp>
        <p:nvSpPr>
          <p:cNvPr id="21" name="Text 15"/>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22" name="Text 16"/>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F3C7E"/>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Are Mobile Games?</a:t>
            </a:r>
            <a:endParaRPr lang="en-US" sz="3200" dirty="0"/>
          </a:p>
        </p:txBody>
      </p:sp>
      <p:sp>
        <p:nvSpPr>
          <p:cNvPr id="3" name="Text 1"/>
          <p:cNvSpPr/>
          <p:nvPr/>
        </p:nvSpPr>
        <p:spPr>
          <a:xfrm>
            <a:off x="548640" y="1188720"/>
            <a:ext cx="5577840" cy="1005840"/>
          </a:xfrm>
          <a:prstGeom prst="rect">
            <a:avLst/>
          </a:prstGeom>
          <a:noFill/>
          <a:ln/>
        </p:spPr>
        <p:txBody>
          <a:bodyPr wrap="square" lIns="0" tIns="0" rIns="0" bIns="0" rtlCol="0" anchor="ctr"/>
          <a:lstStyle/>
          <a:p>
            <a:pPr indent="0" marL="0">
              <a:buNone/>
            </a:pPr>
            <a:r>
              <a:rPr lang="en-US" sz="1350" dirty="0">
                <a:solidFill>
                  <a:srgbClr val="F9E795"/>
                </a:solidFill>
                <a:latin typeface="Calibri" pitchFamily="34" charset="0"/>
                <a:ea typeface="Calibri" pitchFamily="34" charset="-122"/>
                <a:cs typeface="Calibri" pitchFamily="34" charset="-120"/>
              </a:rPr>
              <a:t>Digital games played on smartphones or tablets — instantly accessible, often free-to-play, and designed for short or extended solo/online sessions.</a:t>
            </a:r>
            <a:endParaRPr lang="en-US" sz="1350" dirty="0"/>
          </a:p>
        </p:txBody>
      </p:sp>
      <p:sp>
        <p:nvSpPr>
          <p:cNvPr id="4" name="Shape 2"/>
          <p:cNvSpPr/>
          <p:nvPr/>
        </p:nvSpPr>
        <p:spPr>
          <a:xfrm>
            <a:off x="548640" y="2331720"/>
            <a:ext cx="1691640" cy="2377440"/>
          </a:xfrm>
          <a:prstGeom prst="roundRect">
            <a:avLst>
              <a:gd name="adj" fmla="val 5405"/>
            </a:avLst>
          </a:prstGeom>
          <a:solidFill>
            <a:srgbClr val="FFFFFF"/>
          </a:solidFill>
          <a:ln/>
        </p:spPr>
      </p:sp>
      <p:sp>
        <p:nvSpPr>
          <p:cNvPr id="5" name="Shape 3"/>
          <p:cNvSpPr/>
          <p:nvPr/>
        </p:nvSpPr>
        <p:spPr>
          <a:xfrm>
            <a:off x="1028700" y="2542032"/>
            <a:ext cx="731520" cy="731520"/>
          </a:xfrm>
          <a:prstGeom prst="ellipse">
            <a:avLst/>
          </a:prstGeom>
          <a:solidFill>
            <a:srgbClr val="E7EBFA"/>
          </a:solidFill>
          <a:ln/>
        </p:spPr>
      </p:sp>
      <p:pic>
        <p:nvPicPr>
          <p:cNvPr id="6" name="Image 0" descr="/home/claude/ppt/icons/puzzle_navy.png">    </p:cNvPr>
          <p:cNvPicPr>
            <a:picLocks noChangeAspect="1"/>
          </p:cNvPicPr>
          <p:nvPr/>
        </p:nvPicPr>
        <p:blipFill>
          <a:blip r:embed="rId1"/>
          <a:stretch>
            <a:fillRect/>
          </a:stretch>
        </p:blipFill>
        <p:spPr>
          <a:xfrm>
            <a:off x="1165860" y="2679192"/>
            <a:ext cx="457200" cy="457200"/>
          </a:xfrm>
          <a:prstGeom prst="rect">
            <a:avLst/>
          </a:prstGeom>
        </p:spPr>
      </p:pic>
      <p:sp>
        <p:nvSpPr>
          <p:cNvPr id="7" name="Text 4"/>
          <p:cNvSpPr/>
          <p:nvPr/>
        </p:nvSpPr>
        <p:spPr>
          <a:xfrm>
            <a:off x="603504" y="3364992"/>
            <a:ext cx="1581912" cy="457200"/>
          </a:xfrm>
          <a:prstGeom prst="rect">
            <a:avLst/>
          </a:prstGeom>
          <a:noFill/>
          <a:ln/>
        </p:spPr>
        <p:txBody>
          <a:bodyPr wrap="square" lIns="0" tIns="0" rIns="0" bIns="0" rtlCol="0" anchor="ctr"/>
          <a:lstStyle/>
          <a:p>
            <a:pPr algn="ctr" indent="0" marL="0">
              <a:buNone/>
            </a:pPr>
            <a:r>
              <a:rPr lang="en-US" sz="1100" b="1" dirty="0">
                <a:solidFill>
                  <a:srgbClr val="2F3C7E"/>
                </a:solidFill>
                <a:latin typeface="Calibri" pitchFamily="34" charset="0"/>
                <a:ea typeface="Calibri" pitchFamily="34" charset="-122"/>
                <a:cs typeface="Calibri" pitchFamily="34" charset="-120"/>
              </a:rPr>
              <a:t>Puzzle Games</a:t>
            </a:r>
            <a:endParaRPr lang="en-US" sz="1100" dirty="0"/>
          </a:p>
        </p:txBody>
      </p:sp>
      <p:sp>
        <p:nvSpPr>
          <p:cNvPr id="8" name="Text 5"/>
          <p:cNvSpPr/>
          <p:nvPr/>
        </p:nvSpPr>
        <p:spPr>
          <a:xfrm>
            <a:off x="621792" y="3822192"/>
            <a:ext cx="1545336" cy="82296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Candy Crush-style logic &amp; matching</a:t>
            </a:r>
            <a:endParaRPr lang="en-US" sz="950" dirty="0"/>
          </a:p>
        </p:txBody>
      </p:sp>
      <p:sp>
        <p:nvSpPr>
          <p:cNvPr id="9" name="Shape 6"/>
          <p:cNvSpPr/>
          <p:nvPr/>
        </p:nvSpPr>
        <p:spPr>
          <a:xfrm>
            <a:off x="2423160" y="2331720"/>
            <a:ext cx="1691640" cy="2377440"/>
          </a:xfrm>
          <a:prstGeom prst="roundRect">
            <a:avLst>
              <a:gd name="adj" fmla="val 5405"/>
            </a:avLst>
          </a:prstGeom>
          <a:solidFill>
            <a:srgbClr val="FFFFFF"/>
          </a:solidFill>
          <a:ln/>
        </p:spPr>
      </p:sp>
      <p:sp>
        <p:nvSpPr>
          <p:cNvPr id="10" name="Shape 7"/>
          <p:cNvSpPr/>
          <p:nvPr/>
        </p:nvSpPr>
        <p:spPr>
          <a:xfrm>
            <a:off x="2903220" y="2542032"/>
            <a:ext cx="731520" cy="731520"/>
          </a:xfrm>
          <a:prstGeom prst="ellipse">
            <a:avLst/>
          </a:prstGeom>
          <a:solidFill>
            <a:srgbClr val="E7EBFA"/>
          </a:solidFill>
          <a:ln/>
        </p:spPr>
      </p:sp>
      <p:pic>
        <p:nvPicPr>
          <p:cNvPr id="11" name="Image 1" descr="/home/claude/ppt/icons/controller_navy.png">    </p:cNvPr>
          <p:cNvPicPr>
            <a:picLocks noChangeAspect="1"/>
          </p:cNvPicPr>
          <p:nvPr/>
        </p:nvPicPr>
        <p:blipFill>
          <a:blip r:embed="rId2"/>
          <a:stretch>
            <a:fillRect/>
          </a:stretch>
        </p:blipFill>
        <p:spPr>
          <a:xfrm>
            <a:off x="3040380" y="2679192"/>
            <a:ext cx="457200" cy="457200"/>
          </a:xfrm>
          <a:prstGeom prst="rect">
            <a:avLst/>
          </a:prstGeom>
        </p:spPr>
      </p:pic>
      <p:sp>
        <p:nvSpPr>
          <p:cNvPr id="12" name="Text 8"/>
          <p:cNvSpPr/>
          <p:nvPr/>
        </p:nvSpPr>
        <p:spPr>
          <a:xfrm>
            <a:off x="2478024" y="3364992"/>
            <a:ext cx="1581912" cy="457200"/>
          </a:xfrm>
          <a:prstGeom prst="rect">
            <a:avLst/>
          </a:prstGeom>
          <a:noFill/>
          <a:ln/>
        </p:spPr>
        <p:txBody>
          <a:bodyPr wrap="square" lIns="0" tIns="0" rIns="0" bIns="0" rtlCol="0" anchor="ctr"/>
          <a:lstStyle/>
          <a:p>
            <a:pPr algn="ctr" indent="0" marL="0">
              <a:buNone/>
            </a:pPr>
            <a:r>
              <a:rPr lang="en-US" sz="1100" b="1" dirty="0">
                <a:solidFill>
                  <a:srgbClr val="2F3C7E"/>
                </a:solidFill>
                <a:latin typeface="Calibri" pitchFamily="34" charset="0"/>
                <a:ea typeface="Calibri" pitchFamily="34" charset="-122"/>
                <a:cs typeface="Calibri" pitchFamily="34" charset="-120"/>
              </a:rPr>
              <a:t>Battle Royale</a:t>
            </a:r>
            <a:endParaRPr lang="en-US" sz="1100" dirty="0"/>
          </a:p>
        </p:txBody>
      </p:sp>
      <p:sp>
        <p:nvSpPr>
          <p:cNvPr id="13" name="Text 9"/>
          <p:cNvSpPr/>
          <p:nvPr/>
        </p:nvSpPr>
        <p:spPr>
          <a:xfrm>
            <a:off x="2496312" y="3822192"/>
            <a:ext cx="1545336" cy="82296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BGMI, Free Fire — action</a:t>
            </a:r>
            <a:endParaRPr lang="en-US" sz="950" dirty="0"/>
          </a:p>
        </p:txBody>
      </p:sp>
      <p:sp>
        <p:nvSpPr>
          <p:cNvPr id="14" name="Shape 10"/>
          <p:cNvSpPr/>
          <p:nvPr/>
        </p:nvSpPr>
        <p:spPr>
          <a:xfrm>
            <a:off x="4297680" y="2331720"/>
            <a:ext cx="1691640" cy="2377440"/>
          </a:xfrm>
          <a:prstGeom prst="roundRect">
            <a:avLst>
              <a:gd name="adj" fmla="val 5405"/>
            </a:avLst>
          </a:prstGeom>
          <a:solidFill>
            <a:srgbClr val="FFFFFF"/>
          </a:solidFill>
          <a:ln/>
        </p:spPr>
      </p:sp>
      <p:sp>
        <p:nvSpPr>
          <p:cNvPr id="15" name="Shape 11"/>
          <p:cNvSpPr/>
          <p:nvPr/>
        </p:nvSpPr>
        <p:spPr>
          <a:xfrm>
            <a:off x="4777740" y="2542032"/>
            <a:ext cx="731520" cy="731520"/>
          </a:xfrm>
          <a:prstGeom prst="ellipse">
            <a:avLst/>
          </a:prstGeom>
          <a:solidFill>
            <a:srgbClr val="E7EBFA"/>
          </a:solidFill>
          <a:ln/>
        </p:spPr>
      </p:sp>
      <p:pic>
        <p:nvPicPr>
          <p:cNvPr id="16" name="Image 2" descr="/home/claude/ppt/icons/trophy_navy.png">    </p:cNvPr>
          <p:cNvPicPr>
            <a:picLocks noChangeAspect="1"/>
          </p:cNvPicPr>
          <p:nvPr/>
        </p:nvPicPr>
        <p:blipFill>
          <a:blip r:embed="rId3"/>
          <a:stretch>
            <a:fillRect/>
          </a:stretch>
        </p:blipFill>
        <p:spPr>
          <a:xfrm>
            <a:off x="4914900" y="2679192"/>
            <a:ext cx="457200" cy="457200"/>
          </a:xfrm>
          <a:prstGeom prst="rect">
            <a:avLst/>
          </a:prstGeom>
        </p:spPr>
      </p:pic>
      <p:sp>
        <p:nvSpPr>
          <p:cNvPr id="17" name="Text 12"/>
          <p:cNvSpPr/>
          <p:nvPr/>
        </p:nvSpPr>
        <p:spPr>
          <a:xfrm>
            <a:off x="4352544" y="3364992"/>
            <a:ext cx="1581912" cy="457200"/>
          </a:xfrm>
          <a:prstGeom prst="rect">
            <a:avLst/>
          </a:prstGeom>
          <a:noFill/>
          <a:ln/>
        </p:spPr>
        <p:txBody>
          <a:bodyPr wrap="square" lIns="0" tIns="0" rIns="0" bIns="0" rtlCol="0" anchor="ctr"/>
          <a:lstStyle/>
          <a:p>
            <a:pPr algn="ctr" indent="0" marL="0">
              <a:buNone/>
            </a:pPr>
            <a:r>
              <a:rPr lang="en-US" sz="1100" b="1" dirty="0">
                <a:solidFill>
                  <a:srgbClr val="2F3C7E"/>
                </a:solidFill>
                <a:latin typeface="Calibri" pitchFamily="34" charset="0"/>
                <a:ea typeface="Calibri" pitchFamily="34" charset="-122"/>
                <a:cs typeface="Calibri" pitchFamily="34" charset="-120"/>
              </a:rPr>
              <a:t>Sports Sims</a:t>
            </a:r>
            <a:endParaRPr lang="en-US" sz="1100" dirty="0"/>
          </a:p>
        </p:txBody>
      </p:sp>
      <p:sp>
        <p:nvSpPr>
          <p:cNvPr id="18" name="Text 13"/>
          <p:cNvSpPr/>
          <p:nvPr/>
        </p:nvSpPr>
        <p:spPr>
          <a:xfrm>
            <a:off x="4370832" y="3822192"/>
            <a:ext cx="1545336" cy="82296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FIFA Mobile, cricket games</a:t>
            </a:r>
            <a:endParaRPr lang="en-US" sz="950" dirty="0"/>
          </a:p>
        </p:txBody>
      </p:sp>
      <p:sp>
        <p:nvSpPr>
          <p:cNvPr id="19" name="Shape 14"/>
          <p:cNvSpPr/>
          <p:nvPr/>
        </p:nvSpPr>
        <p:spPr>
          <a:xfrm>
            <a:off x="6537960" y="1234440"/>
            <a:ext cx="5074920" cy="5074920"/>
          </a:xfrm>
          <a:prstGeom prst="roundRect">
            <a:avLst>
              <a:gd name="adj" fmla="val 2703"/>
            </a:avLst>
          </a:prstGeom>
          <a:solidFill>
            <a:srgbClr val="FFFFFF"/>
          </a:solidFill>
          <a:ln/>
          <a:effectLst>
            <a:outerShdw sx="100000" sy="100000" kx="0" ky="0" algn="bl" rotWithShape="0" blurRad="127000" dist="38100" dir="5400000">
              <a:srgbClr val="000000">
                <a:alpha val="35000"/>
              </a:srgbClr>
            </a:outerShdw>
          </a:effectLst>
        </p:spPr>
      </p:sp>
      <p:pic>
        <p:nvPicPr>
          <p:cNvPr id="20" name="Image 3" descr="/home/claude/ppt/icons/hero_mobile_final.png">    </p:cNvPr>
          <p:cNvPicPr>
            <a:picLocks noChangeAspect="1"/>
          </p:cNvPicPr>
          <p:nvPr/>
        </p:nvPicPr>
        <p:blipFill>
          <a:blip r:embed="rId4"/>
          <a:stretch>
            <a:fillRect/>
          </a:stretch>
        </p:blipFill>
        <p:spPr>
          <a:xfrm>
            <a:off x="6629400" y="1325880"/>
            <a:ext cx="4892040" cy="4892040"/>
          </a:xfrm>
          <a:prstGeom prst="rect">
            <a:avLst/>
          </a:prstGeom>
        </p:spPr>
      </p:pic>
      <p:sp>
        <p:nvSpPr>
          <p:cNvPr id="21" name="Text 15"/>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B7BEDE"/>
                </a:solidFill>
                <a:latin typeface="Calibri" pitchFamily="34" charset="0"/>
                <a:ea typeface="Calibri" pitchFamily="34" charset="-122"/>
                <a:cs typeface="Calibri" pitchFamily="34" charset="-120"/>
              </a:rPr>
              <a:t>Traditional Games vs. Mobile Games</a:t>
            </a:r>
            <a:endParaRPr lang="en-US" sz="900" dirty="0"/>
          </a:p>
        </p:txBody>
      </p:sp>
      <p:sp>
        <p:nvSpPr>
          <p:cNvPr id="22" name="Text 16"/>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7BED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Physical &amp; Health Impact</a:t>
            </a:r>
            <a:endParaRPr lang="en-US" sz="3200" dirty="0"/>
          </a:p>
        </p:txBody>
      </p:sp>
      <p:sp>
        <p:nvSpPr>
          <p:cNvPr id="3" name="Shape 1"/>
          <p:cNvSpPr/>
          <p:nvPr/>
        </p:nvSpPr>
        <p:spPr>
          <a:xfrm>
            <a:off x="548640" y="1417320"/>
            <a:ext cx="5074920" cy="4846320"/>
          </a:xfrm>
          <a:prstGeom prst="roundRect">
            <a:avLst>
              <a:gd name="adj" fmla="val 2264"/>
            </a:avLst>
          </a:prstGeom>
          <a:solidFill>
            <a:srgbClr val="FDEDEE"/>
          </a:solidFill>
          <a:ln w="12700">
            <a:solidFill>
              <a:srgbClr val="F96167"/>
            </a:solidFill>
            <a:prstDash val="solid"/>
          </a:ln>
        </p:spPr>
      </p:sp>
      <p:sp>
        <p:nvSpPr>
          <p:cNvPr id="4" name="Shape 2"/>
          <p:cNvSpPr/>
          <p:nvPr/>
        </p:nvSpPr>
        <p:spPr>
          <a:xfrm>
            <a:off x="822960" y="1691640"/>
            <a:ext cx="640080" cy="640080"/>
          </a:xfrm>
          <a:prstGeom prst="ellipse">
            <a:avLst/>
          </a:prstGeom>
          <a:solidFill>
            <a:srgbClr val="F96167"/>
          </a:solidFill>
          <a:ln/>
        </p:spPr>
      </p:sp>
      <p:pic>
        <p:nvPicPr>
          <p:cNvPr id="5" name="Image 0" descr="/home/claude/ppt/icons/heartbeat_coral.png">    </p:cNvPr>
          <p:cNvPicPr>
            <a:picLocks noChangeAspect="1"/>
          </p:cNvPicPr>
          <p:nvPr/>
        </p:nvPicPr>
        <p:blipFill>
          <a:blip r:embed="rId1"/>
          <a:stretch>
            <a:fillRect/>
          </a:stretch>
        </p:blipFill>
        <p:spPr>
          <a:xfrm>
            <a:off x="960120" y="1828800"/>
            <a:ext cx="365760" cy="365760"/>
          </a:xfrm>
          <a:prstGeom prst="rect">
            <a:avLst/>
          </a:prstGeom>
        </p:spPr>
      </p:pic>
      <p:sp>
        <p:nvSpPr>
          <p:cNvPr id="6" name="Text 3"/>
          <p:cNvSpPr/>
          <p:nvPr/>
        </p:nvSpPr>
        <p:spPr>
          <a:xfrm>
            <a:off x="1600200" y="1691640"/>
            <a:ext cx="3977640" cy="640080"/>
          </a:xfrm>
          <a:prstGeom prst="rect">
            <a:avLst/>
          </a:prstGeom>
          <a:noFill/>
          <a:ln/>
        </p:spPr>
        <p:txBody>
          <a:bodyPr wrap="square" lIns="0" tIns="0" rIns="0" bIns="0" rtlCol="0" anchor="ctr"/>
          <a:lstStyle/>
          <a:p>
            <a:pPr indent="0" marL="0">
              <a:buNone/>
            </a:pPr>
            <a:r>
              <a:rPr lang="en-US" sz="1600" b="1" dirty="0">
                <a:solidFill>
                  <a:srgbClr val="F96167"/>
                </a:solidFill>
                <a:latin typeface="Calibri" pitchFamily="34" charset="0"/>
                <a:ea typeface="Calibri" pitchFamily="34" charset="-122"/>
                <a:cs typeface="Calibri" pitchFamily="34" charset="-120"/>
              </a:rPr>
              <a:t>Traditional Games</a:t>
            </a:r>
            <a:endParaRPr lang="en-US" sz="1600" dirty="0"/>
          </a:p>
        </p:txBody>
      </p:sp>
      <p:sp>
        <p:nvSpPr>
          <p:cNvPr id="7" name="Shape 4"/>
          <p:cNvSpPr/>
          <p:nvPr/>
        </p:nvSpPr>
        <p:spPr>
          <a:xfrm>
            <a:off x="868680" y="2606040"/>
            <a:ext cx="146304" cy="146304"/>
          </a:xfrm>
          <a:prstGeom prst="ellipse">
            <a:avLst/>
          </a:prstGeom>
          <a:solidFill>
            <a:srgbClr val="F96167"/>
          </a:solidFill>
          <a:ln/>
        </p:spPr>
      </p:sp>
      <p:sp>
        <p:nvSpPr>
          <p:cNvPr id="8" name="Text 5"/>
          <p:cNvSpPr/>
          <p:nvPr/>
        </p:nvSpPr>
        <p:spPr>
          <a:xfrm>
            <a:off x="114300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High physical exertion — running, jumping, throwing build strength and stamina.</a:t>
            </a:r>
            <a:endParaRPr lang="en-US" sz="1250" dirty="0"/>
          </a:p>
        </p:txBody>
      </p:sp>
      <p:sp>
        <p:nvSpPr>
          <p:cNvPr id="9" name="Shape 6"/>
          <p:cNvSpPr/>
          <p:nvPr/>
        </p:nvSpPr>
        <p:spPr>
          <a:xfrm>
            <a:off x="868680" y="3474720"/>
            <a:ext cx="146304" cy="146304"/>
          </a:xfrm>
          <a:prstGeom prst="ellipse">
            <a:avLst/>
          </a:prstGeom>
          <a:solidFill>
            <a:srgbClr val="F96167"/>
          </a:solidFill>
          <a:ln/>
        </p:spPr>
      </p:sp>
      <p:sp>
        <p:nvSpPr>
          <p:cNvPr id="10" name="Text 7"/>
          <p:cNvSpPr/>
          <p:nvPr/>
        </p:nvSpPr>
        <p:spPr>
          <a:xfrm>
            <a:off x="114300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Improves motor skills, agility and hand-eye coordination through movement.</a:t>
            </a:r>
            <a:endParaRPr lang="en-US" sz="1250" dirty="0"/>
          </a:p>
        </p:txBody>
      </p:sp>
      <p:sp>
        <p:nvSpPr>
          <p:cNvPr id="11" name="Shape 8"/>
          <p:cNvSpPr/>
          <p:nvPr/>
        </p:nvSpPr>
        <p:spPr>
          <a:xfrm>
            <a:off x="868680" y="4343400"/>
            <a:ext cx="146304" cy="146304"/>
          </a:xfrm>
          <a:prstGeom prst="ellipse">
            <a:avLst/>
          </a:prstGeom>
          <a:solidFill>
            <a:srgbClr val="F96167"/>
          </a:solidFill>
          <a:ln/>
        </p:spPr>
      </p:sp>
      <p:sp>
        <p:nvSpPr>
          <p:cNvPr id="12" name="Text 9"/>
          <p:cNvSpPr/>
          <p:nvPr/>
        </p:nvSpPr>
        <p:spPr>
          <a:xfrm>
            <a:off x="114300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Outdoor play increases exposure to sunlight and fresh air.</a:t>
            </a:r>
            <a:endParaRPr lang="en-US" sz="1250" dirty="0"/>
          </a:p>
        </p:txBody>
      </p:sp>
      <p:sp>
        <p:nvSpPr>
          <p:cNvPr id="13" name="Shape 10"/>
          <p:cNvSpPr/>
          <p:nvPr/>
        </p:nvSpPr>
        <p:spPr>
          <a:xfrm>
            <a:off x="6537960" y="1417320"/>
            <a:ext cx="5074920" cy="4846320"/>
          </a:xfrm>
          <a:prstGeom prst="roundRect">
            <a:avLst>
              <a:gd name="adj" fmla="val 2264"/>
            </a:avLst>
          </a:prstGeom>
          <a:solidFill>
            <a:srgbClr val="E7EBFA"/>
          </a:solidFill>
          <a:ln w="12700">
            <a:solidFill>
              <a:srgbClr val="2F3C7E"/>
            </a:solidFill>
            <a:prstDash val="solid"/>
          </a:ln>
        </p:spPr>
      </p:sp>
      <p:sp>
        <p:nvSpPr>
          <p:cNvPr id="14" name="Shape 11"/>
          <p:cNvSpPr/>
          <p:nvPr/>
        </p:nvSpPr>
        <p:spPr>
          <a:xfrm>
            <a:off x="6812280" y="1691640"/>
            <a:ext cx="640080" cy="640080"/>
          </a:xfrm>
          <a:prstGeom prst="ellipse">
            <a:avLst/>
          </a:prstGeom>
          <a:solidFill>
            <a:srgbClr val="2F3C7E"/>
          </a:solidFill>
          <a:ln/>
        </p:spPr>
      </p:sp>
      <p:pic>
        <p:nvPicPr>
          <p:cNvPr id="15" name="Image 1" descr="/home/claude/ppt/icons/heartbeat_navy.png">    </p:cNvPr>
          <p:cNvPicPr>
            <a:picLocks noChangeAspect="1"/>
          </p:cNvPicPr>
          <p:nvPr/>
        </p:nvPicPr>
        <p:blipFill>
          <a:blip r:embed="rId2"/>
          <a:stretch>
            <a:fillRect/>
          </a:stretch>
        </p:blipFill>
        <p:spPr>
          <a:xfrm>
            <a:off x="6949440" y="1828800"/>
            <a:ext cx="365760" cy="365760"/>
          </a:xfrm>
          <a:prstGeom prst="rect">
            <a:avLst/>
          </a:prstGeom>
        </p:spPr>
      </p:pic>
      <p:sp>
        <p:nvSpPr>
          <p:cNvPr id="16" name="Text 12"/>
          <p:cNvSpPr/>
          <p:nvPr/>
        </p:nvSpPr>
        <p:spPr>
          <a:xfrm>
            <a:off x="7589520" y="1691640"/>
            <a:ext cx="3977640" cy="6400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Mobile Games</a:t>
            </a:r>
            <a:endParaRPr lang="en-US" sz="1600" dirty="0"/>
          </a:p>
        </p:txBody>
      </p:sp>
      <p:sp>
        <p:nvSpPr>
          <p:cNvPr id="17" name="Shape 13"/>
          <p:cNvSpPr/>
          <p:nvPr/>
        </p:nvSpPr>
        <p:spPr>
          <a:xfrm>
            <a:off x="6858000" y="2606040"/>
            <a:ext cx="146304" cy="146304"/>
          </a:xfrm>
          <a:prstGeom prst="ellipse">
            <a:avLst/>
          </a:prstGeom>
          <a:solidFill>
            <a:srgbClr val="2F3C7E"/>
          </a:solidFill>
          <a:ln/>
        </p:spPr>
      </p:sp>
      <p:sp>
        <p:nvSpPr>
          <p:cNvPr id="18" name="Text 14"/>
          <p:cNvSpPr/>
          <p:nvPr/>
        </p:nvSpPr>
        <p:spPr>
          <a:xfrm>
            <a:off x="713232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Minimal physical movement; mostly thumb and finger activity.</a:t>
            </a:r>
            <a:endParaRPr lang="en-US" sz="1250" dirty="0"/>
          </a:p>
        </p:txBody>
      </p:sp>
      <p:sp>
        <p:nvSpPr>
          <p:cNvPr id="19" name="Shape 15"/>
          <p:cNvSpPr/>
          <p:nvPr/>
        </p:nvSpPr>
        <p:spPr>
          <a:xfrm>
            <a:off x="6858000" y="3474720"/>
            <a:ext cx="146304" cy="146304"/>
          </a:xfrm>
          <a:prstGeom prst="ellipse">
            <a:avLst/>
          </a:prstGeom>
          <a:solidFill>
            <a:srgbClr val="2F3C7E"/>
          </a:solidFill>
          <a:ln/>
        </p:spPr>
      </p:sp>
      <p:sp>
        <p:nvSpPr>
          <p:cNvPr id="20" name="Text 16"/>
          <p:cNvSpPr/>
          <p:nvPr/>
        </p:nvSpPr>
        <p:spPr>
          <a:xfrm>
            <a:off x="713232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Prolonged sessions linked to eye strain, poor posture and sedentary habits.</a:t>
            </a:r>
            <a:endParaRPr lang="en-US" sz="1250" dirty="0"/>
          </a:p>
        </p:txBody>
      </p:sp>
      <p:sp>
        <p:nvSpPr>
          <p:cNvPr id="21" name="Shape 17"/>
          <p:cNvSpPr/>
          <p:nvPr/>
        </p:nvSpPr>
        <p:spPr>
          <a:xfrm>
            <a:off x="6858000" y="4343400"/>
            <a:ext cx="146304" cy="146304"/>
          </a:xfrm>
          <a:prstGeom prst="ellipse">
            <a:avLst/>
          </a:prstGeom>
          <a:solidFill>
            <a:srgbClr val="2F3C7E"/>
          </a:solidFill>
          <a:ln/>
        </p:spPr>
      </p:sp>
      <p:sp>
        <p:nvSpPr>
          <p:cNvPr id="22" name="Text 18"/>
          <p:cNvSpPr/>
          <p:nvPr/>
        </p:nvSpPr>
        <p:spPr>
          <a:xfrm>
            <a:off x="713232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Blue light exposure before sleep can disrupt sleep quality.</a:t>
            </a:r>
            <a:endParaRPr lang="en-US" sz="1250" dirty="0"/>
          </a:p>
        </p:txBody>
      </p:sp>
      <p:sp>
        <p:nvSpPr>
          <p:cNvPr id="23" name="Text 19"/>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24" name="Text 2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Social Interaction &amp; Bonding</a:t>
            </a:r>
            <a:endParaRPr lang="en-US" sz="3200" dirty="0"/>
          </a:p>
        </p:txBody>
      </p:sp>
      <p:sp>
        <p:nvSpPr>
          <p:cNvPr id="3" name="Shape 1"/>
          <p:cNvSpPr/>
          <p:nvPr/>
        </p:nvSpPr>
        <p:spPr>
          <a:xfrm>
            <a:off x="548640" y="1417320"/>
            <a:ext cx="5074920" cy="4846320"/>
          </a:xfrm>
          <a:prstGeom prst="roundRect">
            <a:avLst>
              <a:gd name="adj" fmla="val 2264"/>
            </a:avLst>
          </a:prstGeom>
          <a:solidFill>
            <a:srgbClr val="FDEDEE"/>
          </a:solidFill>
          <a:ln w="12700">
            <a:solidFill>
              <a:srgbClr val="F96167"/>
            </a:solidFill>
            <a:prstDash val="solid"/>
          </a:ln>
        </p:spPr>
      </p:sp>
      <p:sp>
        <p:nvSpPr>
          <p:cNvPr id="4" name="Shape 2"/>
          <p:cNvSpPr/>
          <p:nvPr/>
        </p:nvSpPr>
        <p:spPr>
          <a:xfrm>
            <a:off x="822960" y="1691640"/>
            <a:ext cx="640080" cy="640080"/>
          </a:xfrm>
          <a:prstGeom prst="ellipse">
            <a:avLst/>
          </a:prstGeom>
          <a:solidFill>
            <a:srgbClr val="F96167"/>
          </a:solidFill>
          <a:ln/>
        </p:spPr>
      </p:sp>
      <p:pic>
        <p:nvPicPr>
          <p:cNvPr id="5" name="Image 0" descr="/home/claude/ppt/icons/users_coral.png">    </p:cNvPr>
          <p:cNvPicPr>
            <a:picLocks noChangeAspect="1"/>
          </p:cNvPicPr>
          <p:nvPr/>
        </p:nvPicPr>
        <p:blipFill>
          <a:blip r:embed="rId1"/>
          <a:stretch>
            <a:fillRect/>
          </a:stretch>
        </p:blipFill>
        <p:spPr>
          <a:xfrm>
            <a:off x="960120" y="1828800"/>
            <a:ext cx="365760" cy="365760"/>
          </a:xfrm>
          <a:prstGeom prst="rect">
            <a:avLst/>
          </a:prstGeom>
        </p:spPr>
      </p:pic>
      <p:sp>
        <p:nvSpPr>
          <p:cNvPr id="6" name="Text 3"/>
          <p:cNvSpPr/>
          <p:nvPr/>
        </p:nvSpPr>
        <p:spPr>
          <a:xfrm>
            <a:off x="1600200" y="1691640"/>
            <a:ext cx="3977640" cy="640080"/>
          </a:xfrm>
          <a:prstGeom prst="rect">
            <a:avLst/>
          </a:prstGeom>
          <a:noFill/>
          <a:ln/>
        </p:spPr>
        <p:txBody>
          <a:bodyPr wrap="square" lIns="0" tIns="0" rIns="0" bIns="0" rtlCol="0" anchor="ctr"/>
          <a:lstStyle/>
          <a:p>
            <a:pPr indent="0" marL="0">
              <a:buNone/>
            </a:pPr>
            <a:r>
              <a:rPr lang="en-US" sz="1600" b="1" dirty="0">
                <a:solidFill>
                  <a:srgbClr val="F96167"/>
                </a:solidFill>
                <a:latin typeface="Calibri" pitchFamily="34" charset="0"/>
                <a:ea typeface="Calibri" pitchFamily="34" charset="-122"/>
                <a:cs typeface="Calibri" pitchFamily="34" charset="-120"/>
              </a:rPr>
              <a:t>Traditional Games</a:t>
            </a:r>
            <a:endParaRPr lang="en-US" sz="1600" dirty="0"/>
          </a:p>
        </p:txBody>
      </p:sp>
      <p:sp>
        <p:nvSpPr>
          <p:cNvPr id="7" name="Shape 4"/>
          <p:cNvSpPr/>
          <p:nvPr/>
        </p:nvSpPr>
        <p:spPr>
          <a:xfrm>
            <a:off x="868680" y="2606040"/>
            <a:ext cx="146304" cy="146304"/>
          </a:xfrm>
          <a:prstGeom prst="ellipse">
            <a:avLst/>
          </a:prstGeom>
          <a:solidFill>
            <a:srgbClr val="F96167"/>
          </a:solidFill>
          <a:ln/>
        </p:spPr>
      </p:sp>
      <p:sp>
        <p:nvSpPr>
          <p:cNvPr id="8" name="Text 5"/>
          <p:cNvSpPr/>
          <p:nvPr/>
        </p:nvSpPr>
        <p:spPr>
          <a:xfrm>
            <a:off x="114300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Played face-to-face in groups, building real-world friendships.</a:t>
            </a:r>
            <a:endParaRPr lang="en-US" sz="1250" dirty="0"/>
          </a:p>
        </p:txBody>
      </p:sp>
      <p:sp>
        <p:nvSpPr>
          <p:cNvPr id="9" name="Shape 6"/>
          <p:cNvSpPr/>
          <p:nvPr/>
        </p:nvSpPr>
        <p:spPr>
          <a:xfrm>
            <a:off x="868680" y="3474720"/>
            <a:ext cx="146304" cy="146304"/>
          </a:xfrm>
          <a:prstGeom prst="ellipse">
            <a:avLst/>
          </a:prstGeom>
          <a:solidFill>
            <a:srgbClr val="F96167"/>
          </a:solidFill>
          <a:ln/>
        </p:spPr>
      </p:sp>
      <p:sp>
        <p:nvSpPr>
          <p:cNvPr id="10" name="Text 7"/>
          <p:cNvSpPr/>
          <p:nvPr/>
        </p:nvSpPr>
        <p:spPr>
          <a:xfrm>
            <a:off x="114300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Teaches teamwork, negotiation, fair play and conflict resolution.</a:t>
            </a:r>
            <a:endParaRPr lang="en-US" sz="1250" dirty="0"/>
          </a:p>
        </p:txBody>
      </p:sp>
      <p:sp>
        <p:nvSpPr>
          <p:cNvPr id="11" name="Shape 8"/>
          <p:cNvSpPr/>
          <p:nvPr/>
        </p:nvSpPr>
        <p:spPr>
          <a:xfrm>
            <a:off x="868680" y="4343400"/>
            <a:ext cx="146304" cy="146304"/>
          </a:xfrm>
          <a:prstGeom prst="ellipse">
            <a:avLst/>
          </a:prstGeom>
          <a:solidFill>
            <a:srgbClr val="F96167"/>
          </a:solidFill>
          <a:ln/>
        </p:spPr>
      </p:sp>
      <p:sp>
        <p:nvSpPr>
          <p:cNvPr id="12" name="Text 9"/>
          <p:cNvSpPr/>
          <p:nvPr/>
        </p:nvSpPr>
        <p:spPr>
          <a:xfrm>
            <a:off x="114300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Strengthens neighborhood and community bonds across ages.</a:t>
            </a:r>
            <a:endParaRPr lang="en-US" sz="1250" dirty="0"/>
          </a:p>
        </p:txBody>
      </p:sp>
      <p:sp>
        <p:nvSpPr>
          <p:cNvPr id="13" name="Shape 10"/>
          <p:cNvSpPr/>
          <p:nvPr/>
        </p:nvSpPr>
        <p:spPr>
          <a:xfrm>
            <a:off x="6537960" y="1417320"/>
            <a:ext cx="5074920" cy="4846320"/>
          </a:xfrm>
          <a:prstGeom prst="roundRect">
            <a:avLst>
              <a:gd name="adj" fmla="val 2264"/>
            </a:avLst>
          </a:prstGeom>
          <a:solidFill>
            <a:srgbClr val="E7EBFA"/>
          </a:solidFill>
          <a:ln w="12700">
            <a:solidFill>
              <a:srgbClr val="2F3C7E"/>
            </a:solidFill>
            <a:prstDash val="solid"/>
          </a:ln>
        </p:spPr>
      </p:sp>
      <p:sp>
        <p:nvSpPr>
          <p:cNvPr id="14" name="Shape 11"/>
          <p:cNvSpPr/>
          <p:nvPr/>
        </p:nvSpPr>
        <p:spPr>
          <a:xfrm>
            <a:off x="6812280" y="1691640"/>
            <a:ext cx="640080" cy="640080"/>
          </a:xfrm>
          <a:prstGeom prst="ellipse">
            <a:avLst/>
          </a:prstGeom>
          <a:solidFill>
            <a:srgbClr val="2F3C7E"/>
          </a:solidFill>
          <a:ln/>
        </p:spPr>
      </p:sp>
      <p:pic>
        <p:nvPicPr>
          <p:cNvPr id="15" name="Image 1" descr="/home/claude/ppt/icons/userAlone_navy.png">    </p:cNvPr>
          <p:cNvPicPr>
            <a:picLocks noChangeAspect="1"/>
          </p:cNvPicPr>
          <p:nvPr/>
        </p:nvPicPr>
        <p:blipFill>
          <a:blip r:embed="rId2"/>
          <a:stretch>
            <a:fillRect/>
          </a:stretch>
        </p:blipFill>
        <p:spPr>
          <a:xfrm>
            <a:off x="6949440" y="1828800"/>
            <a:ext cx="365760" cy="365760"/>
          </a:xfrm>
          <a:prstGeom prst="rect">
            <a:avLst/>
          </a:prstGeom>
        </p:spPr>
      </p:pic>
      <p:sp>
        <p:nvSpPr>
          <p:cNvPr id="16" name="Text 12"/>
          <p:cNvSpPr/>
          <p:nvPr/>
        </p:nvSpPr>
        <p:spPr>
          <a:xfrm>
            <a:off x="7589520" y="1691640"/>
            <a:ext cx="3977640" cy="6400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Mobile Games</a:t>
            </a:r>
            <a:endParaRPr lang="en-US" sz="1600" dirty="0"/>
          </a:p>
        </p:txBody>
      </p:sp>
      <p:sp>
        <p:nvSpPr>
          <p:cNvPr id="17" name="Shape 13"/>
          <p:cNvSpPr/>
          <p:nvPr/>
        </p:nvSpPr>
        <p:spPr>
          <a:xfrm>
            <a:off x="6858000" y="2606040"/>
            <a:ext cx="146304" cy="146304"/>
          </a:xfrm>
          <a:prstGeom prst="ellipse">
            <a:avLst/>
          </a:prstGeom>
          <a:solidFill>
            <a:srgbClr val="2F3C7E"/>
          </a:solidFill>
          <a:ln/>
        </p:spPr>
      </p:sp>
      <p:sp>
        <p:nvSpPr>
          <p:cNvPr id="18" name="Text 14"/>
          <p:cNvSpPr/>
          <p:nvPr/>
        </p:nvSpPr>
        <p:spPr>
          <a:xfrm>
            <a:off x="713232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Often played alone, or with strangers online rather than known peers.</a:t>
            </a:r>
            <a:endParaRPr lang="en-US" sz="1250" dirty="0"/>
          </a:p>
        </p:txBody>
      </p:sp>
      <p:sp>
        <p:nvSpPr>
          <p:cNvPr id="19" name="Shape 15"/>
          <p:cNvSpPr/>
          <p:nvPr/>
        </p:nvSpPr>
        <p:spPr>
          <a:xfrm>
            <a:off x="6858000" y="3474720"/>
            <a:ext cx="146304" cy="146304"/>
          </a:xfrm>
          <a:prstGeom prst="ellipse">
            <a:avLst/>
          </a:prstGeom>
          <a:solidFill>
            <a:srgbClr val="2F3C7E"/>
          </a:solidFill>
          <a:ln/>
        </p:spPr>
      </p:sp>
      <p:sp>
        <p:nvSpPr>
          <p:cNvPr id="20" name="Text 16"/>
          <p:cNvSpPr/>
          <p:nvPr/>
        </p:nvSpPr>
        <p:spPr>
          <a:xfrm>
            <a:off x="713232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Online multiplayer offers connection but limited non-verbal interaction.</a:t>
            </a:r>
            <a:endParaRPr lang="en-US" sz="1250" dirty="0"/>
          </a:p>
        </p:txBody>
      </p:sp>
      <p:sp>
        <p:nvSpPr>
          <p:cNvPr id="21" name="Shape 17"/>
          <p:cNvSpPr/>
          <p:nvPr/>
        </p:nvSpPr>
        <p:spPr>
          <a:xfrm>
            <a:off x="6858000" y="4343400"/>
            <a:ext cx="146304" cy="146304"/>
          </a:xfrm>
          <a:prstGeom prst="ellipse">
            <a:avLst/>
          </a:prstGeom>
          <a:solidFill>
            <a:srgbClr val="2F3C7E"/>
          </a:solidFill>
          <a:ln/>
        </p:spPr>
      </p:sp>
      <p:sp>
        <p:nvSpPr>
          <p:cNvPr id="22" name="Text 18"/>
          <p:cNvSpPr/>
          <p:nvPr/>
        </p:nvSpPr>
        <p:spPr>
          <a:xfrm>
            <a:off x="713232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Can reduce face-to-face family and community time if overused.</a:t>
            </a:r>
            <a:endParaRPr lang="en-US" sz="1250" dirty="0"/>
          </a:p>
        </p:txBody>
      </p:sp>
      <p:sp>
        <p:nvSpPr>
          <p:cNvPr id="23" name="Text 19"/>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24" name="Text 2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Cognitive &amp; Skill Development</a:t>
            </a:r>
            <a:endParaRPr lang="en-US" sz="3200" dirty="0"/>
          </a:p>
        </p:txBody>
      </p:sp>
      <p:sp>
        <p:nvSpPr>
          <p:cNvPr id="3" name="Shape 1"/>
          <p:cNvSpPr/>
          <p:nvPr/>
        </p:nvSpPr>
        <p:spPr>
          <a:xfrm>
            <a:off x="548640" y="1417320"/>
            <a:ext cx="5074920" cy="4846320"/>
          </a:xfrm>
          <a:prstGeom prst="roundRect">
            <a:avLst>
              <a:gd name="adj" fmla="val 2264"/>
            </a:avLst>
          </a:prstGeom>
          <a:solidFill>
            <a:srgbClr val="FDEDEE"/>
          </a:solidFill>
          <a:ln w="12700">
            <a:solidFill>
              <a:srgbClr val="F96167"/>
            </a:solidFill>
            <a:prstDash val="solid"/>
          </a:ln>
        </p:spPr>
      </p:sp>
      <p:sp>
        <p:nvSpPr>
          <p:cNvPr id="4" name="Shape 2"/>
          <p:cNvSpPr/>
          <p:nvPr/>
        </p:nvSpPr>
        <p:spPr>
          <a:xfrm>
            <a:off x="822960" y="1691640"/>
            <a:ext cx="640080" cy="640080"/>
          </a:xfrm>
          <a:prstGeom prst="ellipse">
            <a:avLst/>
          </a:prstGeom>
          <a:solidFill>
            <a:srgbClr val="F96167"/>
          </a:solidFill>
          <a:ln/>
        </p:spPr>
      </p:sp>
      <p:pic>
        <p:nvPicPr>
          <p:cNvPr id="5" name="Image 0" descr="/home/claude/ppt/icons/brain_coral.png">    </p:cNvPr>
          <p:cNvPicPr>
            <a:picLocks noChangeAspect="1"/>
          </p:cNvPicPr>
          <p:nvPr/>
        </p:nvPicPr>
        <p:blipFill>
          <a:blip r:embed="rId1"/>
          <a:stretch>
            <a:fillRect/>
          </a:stretch>
        </p:blipFill>
        <p:spPr>
          <a:xfrm>
            <a:off x="960120" y="1828800"/>
            <a:ext cx="365760" cy="365760"/>
          </a:xfrm>
          <a:prstGeom prst="rect">
            <a:avLst/>
          </a:prstGeom>
        </p:spPr>
      </p:pic>
      <p:sp>
        <p:nvSpPr>
          <p:cNvPr id="6" name="Text 3"/>
          <p:cNvSpPr/>
          <p:nvPr/>
        </p:nvSpPr>
        <p:spPr>
          <a:xfrm>
            <a:off x="1600200" y="1691640"/>
            <a:ext cx="3977640" cy="640080"/>
          </a:xfrm>
          <a:prstGeom prst="rect">
            <a:avLst/>
          </a:prstGeom>
          <a:noFill/>
          <a:ln/>
        </p:spPr>
        <p:txBody>
          <a:bodyPr wrap="square" lIns="0" tIns="0" rIns="0" bIns="0" rtlCol="0" anchor="ctr"/>
          <a:lstStyle/>
          <a:p>
            <a:pPr indent="0" marL="0">
              <a:buNone/>
            </a:pPr>
            <a:r>
              <a:rPr lang="en-US" sz="1600" b="1" dirty="0">
                <a:solidFill>
                  <a:srgbClr val="F96167"/>
                </a:solidFill>
                <a:latin typeface="Calibri" pitchFamily="34" charset="0"/>
                <a:ea typeface="Calibri" pitchFamily="34" charset="-122"/>
                <a:cs typeface="Calibri" pitchFamily="34" charset="-120"/>
              </a:rPr>
              <a:t>Traditional Games</a:t>
            </a:r>
            <a:endParaRPr lang="en-US" sz="1600" dirty="0"/>
          </a:p>
        </p:txBody>
      </p:sp>
      <p:sp>
        <p:nvSpPr>
          <p:cNvPr id="7" name="Shape 4"/>
          <p:cNvSpPr/>
          <p:nvPr/>
        </p:nvSpPr>
        <p:spPr>
          <a:xfrm>
            <a:off x="868680" y="2606040"/>
            <a:ext cx="146304" cy="146304"/>
          </a:xfrm>
          <a:prstGeom prst="ellipse">
            <a:avLst/>
          </a:prstGeom>
          <a:solidFill>
            <a:srgbClr val="F96167"/>
          </a:solidFill>
          <a:ln/>
        </p:spPr>
      </p:sp>
      <p:sp>
        <p:nvSpPr>
          <p:cNvPr id="8" name="Text 5"/>
          <p:cNvSpPr/>
          <p:nvPr/>
        </p:nvSpPr>
        <p:spPr>
          <a:xfrm>
            <a:off x="114300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Builds spatial reasoning, quick decision-making and physical strategy.</a:t>
            </a:r>
            <a:endParaRPr lang="en-US" sz="1250" dirty="0"/>
          </a:p>
        </p:txBody>
      </p:sp>
      <p:sp>
        <p:nvSpPr>
          <p:cNvPr id="9" name="Shape 6"/>
          <p:cNvSpPr/>
          <p:nvPr/>
        </p:nvSpPr>
        <p:spPr>
          <a:xfrm>
            <a:off x="868680" y="3474720"/>
            <a:ext cx="146304" cy="146304"/>
          </a:xfrm>
          <a:prstGeom prst="ellipse">
            <a:avLst/>
          </a:prstGeom>
          <a:solidFill>
            <a:srgbClr val="F96167"/>
          </a:solidFill>
          <a:ln/>
        </p:spPr>
      </p:sp>
      <p:sp>
        <p:nvSpPr>
          <p:cNvPr id="10" name="Text 7"/>
          <p:cNvSpPr/>
          <p:nvPr/>
        </p:nvSpPr>
        <p:spPr>
          <a:xfrm>
            <a:off x="114300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Encourages creativity — children often invent or modify rules.</a:t>
            </a:r>
            <a:endParaRPr lang="en-US" sz="1250" dirty="0"/>
          </a:p>
        </p:txBody>
      </p:sp>
      <p:sp>
        <p:nvSpPr>
          <p:cNvPr id="11" name="Shape 8"/>
          <p:cNvSpPr/>
          <p:nvPr/>
        </p:nvSpPr>
        <p:spPr>
          <a:xfrm>
            <a:off x="868680" y="4343400"/>
            <a:ext cx="146304" cy="146304"/>
          </a:xfrm>
          <a:prstGeom prst="ellipse">
            <a:avLst/>
          </a:prstGeom>
          <a:solidFill>
            <a:srgbClr val="F96167"/>
          </a:solidFill>
          <a:ln/>
        </p:spPr>
      </p:sp>
      <p:sp>
        <p:nvSpPr>
          <p:cNvPr id="12" name="Text 9"/>
          <p:cNvSpPr/>
          <p:nvPr/>
        </p:nvSpPr>
        <p:spPr>
          <a:xfrm>
            <a:off x="114300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Develops patience and resilience through repeated real-world practice.</a:t>
            </a:r>
            <a:endParaRPr lang="en-US" sz="1250" dirty="0"/>
          </a:p>
        </p:txBody>
      </p:sp>
      <p:sp>
        <p:nvSpPr>
          <p:cNvPr id="13" name="Shape 10"/>
          <p:cNvSpPr/>
          <p:nvPr/>
        </p:nvSpPr>
        <p:spPr>
          <a:xfrm>
            <a:off x="6537960" y="1417320"/>
            <a:ext cx="5074920" cy="4846320"/>
          </a:xfrm>
          <a:prstGeom prst="roundRect">
            <a:avLst>
              <a:gd name="adj" fmla="val 2264"/>
            </a:avLst>
          </a:prstGeom>
          <a:solidFill>
            <a:srgbClr val="E7EBFA"/>
          </a:solidFill>
          <a:ln w="12700">
            <a:solidFill>
              <a:srgbClr val="2F3C7E"/>
            </a:solidFill>
            <a:prstDash val="solid"/>
          </a:ln>
        </p:spPr>
      </p:sp>
      <p:sp>
        <p:nvSpPr>
          <p:cNvPr id="14" name="Shape 11"/>
          <p:cNvSpPr/>
          <p:nvPr/>
        </p:nvSpPr>
        <p:spPr>
          <a:xfrm>
            <a:off x="6812280" y="1691640"/>
            <a:ext cx="640080" cy="640080"/>
          </a:xfrm>
          <a:prstGeom prst="ellipse">
            <a:avLst/>
          </a:prstGeom>
          <a:solidFill>
            <a:srgbClr val="2F3C7E"/>
          </a:solidFill>
          <a:ln/>
        </p:spPr>
      </p:sp>
      <p:pic>
        <p:nvPicPr>
          <p:cNvPr id="15" name="Image 1" descr="/home/claude/ppt/icons/brain_navy.png">    </p:cNvPr>
          <p:cNvPicPr>
            <a:picLocks noChangeAspect="1"/>
          </p:cNvPicPr>
          <p:nvPr/>
        </p:nvPicPr>
        <p:blipFill>
          <a:blip r:embed="rId2"/>
          <a:stretch>
            <a:fillRect/>
          </a:stretch>
        </p:blipFill>
        <p:spPr>
          <a:xfrm>
            <a:off x="6949440" y="1828800"/>
            <a:ext cx="365760" cy="365760"/>
          </a:xfrm>
          <a:prstGeom prst="rect">
            <a:avLst/>
          </a:prstGeom>
        </p:spPr>
      </p:pic>
      <p:sp>
        <p:nvSpPr>
          <p:cNvPr id="16" name="Text 12"/>
          <p:cNvSpPr/>
          <p:nvPr/>
        </p:nvSpPr>
        <p:spPr>
          <a:xfrm>
            <a:off x="7589520" y="1691640"/>
            <a:ext cx="3977640" cy="6400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Mobile Games</a:t>
            </a:r>
            <a:endParaRPr lang="en-US" sz="1600" dirty="0"/>
          </a:p>
        </p:txBody>
      </p:sp>
      <p:sp>
        <p:nvSpPr>
          <p:cNvPr id="17" name="Shape 13"/>
          <p:cNvSpPr/>
          <p:nvPr/>
        </p:nvSpPr>
        <p:spPr>
          <a:xfrm>
            <a:off x="6858000" y="2606040"/>
            <a:ext cx="146304" cy="146304"/>
          </a:xfrm>
          <a:prstGeom prst="ellipse">
            <a:avLst/>
          </a:prstGeom>
          <a:solidFill>
            <a:srgbClr val="2F3C7E"/>
          </a:solidFill>
          <a:ln/>
        </p:spPr>
      </p:sp>
      <p:sp>
        <p:nvSpPr>
          <p:cNvPr id="18" name="Text 14"/>
          <p:cNvSpPr/>
          <p:nvPr/>
        </p:nvSpPr>
        <p:spPr>
          <a:xfrm>
            <a:off x="713232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Sharpens reflexes, hand-eye coordination and pattern recognition.</a:t>
            </a:r>
            <a:endParaRPr lang="en-US" sz="1250" dirty="0"/>
          </a:p>
        </p:txBody>
      </p:sp>
      <p:sp>
        <p:nvSpPr>
          <p:cNvPr id="19" name="Shape 15"/>
          <p:cNvSpPr/>
          <p:nvPr/>
        </p:nvSpPr>
        <p:spPr>
          <a:xfrm>
            <a:off x="6858000" y="3474720"/>
            <a:ext cx="146304" cy="146304"/>
          </a:xfrm>
          <a:prstGeom prst="ellipse">
            <a:avLst/>
          </a:prstGeom>
          <a:solidFill>
            <a:srgbClr val="2F3C7E"/>
          </a:solidFill>
          <a:ln/>
        </p:spPr>
      </p:sp>
      <p:sp>
        <p:nvSpPr>
          <p:cNvPr id="20" name="Text 16"/>
          <p:cNvSpPr/>
          <p:nvPr/>
        </p:nvSpPr>
        <p:spPr>
          <a:xfrm>
            <a:off x="713232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Puzzle and strategy games can improve problem-solving skills.</a:t>
            </a:r>
            <a:endParaRPr lang="en-US" sz="1250" dirty="0"/>
          </a:p>
        </p:txBody>
      </p:sp>
      <p:sp>
        <p:nvSpPr>
          <p:cNvPr id="21" name="Shape 17"/>
          <p:cNvSpPr/>
          <p:nvPr/>
        </p:nvSpPr>
        <p:spPr>
          <a:xfrm>
            <a:off x="6858000" y="4343400"/>
            <a:ext cx="146304" cy="146304"/>
          </a:xfrm>
          <a:prstGeom prst="ellipse">
            <a:avLst/>
          </a:prstGeom>
          <a:solidFill>
            <a:srgbClr val="2F3C7E"/>
          </a:solidFill>
          <a:ln/>
        </p:spPr>
      </p:sp>
      <p:sp>
        <p:nvSpPr>
          <p:cNvPr id="22" name="Text 18"/>
          <p:cNvSpPr/>
          <p:nvPr/>
        </p:nvSpPr>
        <p:spPr>
          <a:xfrm>
            <a:off x="713232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Reward-loop design can shorten attention span with frequent play.</a:t>
            </a:r>
            <a:endParaRPr lang="en-US" sz="1250" dirty="0"/>
          </a:p>
        </p:txBody>
      </p:sp>
      <p:sp>
        <p:nvSpPr>
          <p:cNvPr id="23" name="Text 19"/>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24" name="Text 2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Cost &amp; Accessibility</a:t>
            </a:r>
            <a:endParaRPr lang="en-US" sz="3200" dirty="0"/>
          </a:p>
        </p:txBody>
      </p:sp>
      <p:sp>
        <p:nvSpPr>
          <p:cNvPr id="3" name="Shape 1"/>
          <p:cNvSpPr/>
          <p:nvPr/>
        </p:nvSpPr>
        <p:spPr>
          <a:xfrm>
            <a:off x="548640" y="1417320"/>
            <a:ext cx="5074920" cy="4846320"/>
          </a:xfrm>
          <a:prstGeom prst="roundRect">
            <a:avLst>
              <a:gd name="adj" fmla="val 2264"/>
            </a:avLst>
          </a:prstGeom>
          <a:solidFill>
            <a:srgbClr val="FDEDEE"/>
          </a:solidFill>
          <a:ln w="12700">
            <a:solidFill>
              <a:srgbClr val="F96167"/>
            </a:solidFill>
            <a:prstDash val="solid"/>
          </a:ln>
        </p:spPr>
      </p:sp>
      <p:sp>
        <p:nvSpPr>
          <p:cNvPr id="4" name="Shape 2"/>
          <p:cNvSpPr/>
          <p:nvPr/>
        </p:nvSpPr>
        <p:spPr>
          <a:xfrm>
            <a:off x="822960" y="1691640"/>
            <a:ext cx="640080" cy="640080"/>
          </a:xfrm>
          <a:prstGeom prst="ellipse">
            <a:avLst/>
          </a:prstGeom>
          <a:solidFill>
            <a:srgbClr val="F96167"/>
          </a:solidFill>
          <a:ln/>
        </p:spPr>
      </p:sp>
      <p:pic>
        <p:nvPicPr>
          <p:cNvPr id="5" name="Image 0" descr="/home/claude/ppt/icons/coins_coral.png">    </p:cNvPr>
          <p:cNvPicPr>
            <a:picLocks noChangeAspect="1"/>
          </p:cNvPicPr>
          <p:nvPr/>
        </p:nvPicPr>
        <p:blipFill>
          <a:blip r:embed="rId1"/>
          <a:stretch>
            <a:fillRect/>
          </a:stretch>
        </p:blipFill>
        <p:spPr>
          <a:xfrm>
            <a:off x="960120" y="1828800"/>
            <a:ext cx="365760" cy="365760"/>
          </a:xfrm>
          <a:prstGeom prst="rect">
            <a:avLst/>
          </a:prstGeom>
        </p:spPr>
      </p:pic>
      <p:sp>
        <p:nvSpPr>
          <p:cNvPr id="6" name="Text 3"/>
          <p:cNvSpPr/>
          <p:nvPr/>
        </p:nvSpPr>
        <p:spPr>
          <a:xfrm>
            <a:off x="1600200" y="1691640"/>
            <a:ext cx="3977640" cy="640080"/>
          </a:xfrm>
          <a:prstGeom prst="rect">
            <a:avLst/>
          </a:prstGeom>
          <a:noFill/>
          <a:ln/>
        </p:spPr>
        <p:txBody>
          <a:bodyPr wrap="square" lIns="0" tIns="0" rIns="0" bIns="0" rtlCol="0" anchor="ctr"/>
          <a:lstStyle/>
          <a:p>
            <a:pPr indent="0" marL="0">
              <a:buNone/>
            </a:pPr>
            <a:r>
              <a:rPr lang="en-US" sz="1600" b="1" dirty="0">
                <a:solidFill>
                  <a:srgbClr val="F96167"/>
                </a:solidFill>
                <a:latin typeface="Calibri" pitchFamily="34" charset="0"/>
                <a:ea typeface="Calibri" pitchFamily="34" charset="-122"/>
                <a:cs typeface="Calibri" pitchFamily="34" charset="-120"/>
              </a:rPr>
              <a:t>Traditional Games</a:t>
            </a:r>
            <a:endParaRPr lang="en-US" sz="1600" dirty="0"/>
          </a:p>
        </p:txBody>
      </p:sp>
      <p:sp>
        <p:nvSpPr>
          <p:cNvPr id="7" name="Shape 4"/>
          <p:cNvSpPr/>
          <p:nvPr/>
        </p:nvSpPr>
        <p:spPr>
          <a:xfrm>
            <a:off x="868680" y="2606040"/>
            <a:ext cx="146304" cy="146304"/>
          </a:xfrm>
          <a:prstGeom prst="ellipse">
            <a:avLst/>
          </a:prstGeom>
          <a:solidFill>
            <a:srgbClr val="F96167"/>
          </a:solidFill>
          <a:ln/>
        </p:spPr>
      </p:sp>
      <p:sp>
        <p:nvSpPr>
          <p:cNvPr id="8" name="Text 5"/>
          <p:cNvSpPr/>
          <p:nvPr/>
        </p:nvSpPr>
        <p:spPr>
          <a:xfrm>
            <a:off x="114300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Very low cost — often just open space, stones, sticks or chalk.</a:t>
            </a:r>
            <a:endParaRPr lang="en-US" sz="1250" dirty="0"/>
          </a:p>
        </p:txBody>
      </p:sp>
      <p:sp>
        <p:nvSpPr>
          <p:cNvPr id="9" name="Shape 6"/>
          <p:cNvSpPr/>
          <p:nvPr/>
        </p:nvSpPr>
        <p:spPr>
          <a:xfrm>
            <a:off x="868680" y="3474720"/>
            <a:ext cx="146304" cy="146304"/>
          </a:xfrm>
          <a:prstGeom prst="ellipse">
            <a:avLst/>
          </a:prstGeom>
          <a:solidFill>
            <a:srgbClr val="F96167"/>
          </a:solidFill>
          <a:ln/>
        </p:spPr>
      </p:sp>
      <p:sp>
        <p:nvSpPr>
          <p:cNvPr id="10" name="Text 7"/>
          <p:cNvSpPr/>
          <p:nvPr/>
        </p:nvSpPr>
        <p:spPr>
          <a:xfrm>
            <a:off x="114300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Accessible to nearly everyone regardless of economic background.</a:t>
            </a:r>
            <a:endParaRPr lang="en-US" sz="1250" dirty="0"/>
          </a:p>
        </p:txBody>
      </p:sp>
      <p:sp>
        <p:nvSpPr>
          <p:cNvPr id="11" name="Shape 8"/>
          <p:cNvSpPr/>
          <p:nvPr/>
        </p:nvSpPr>
        <p:spPr>
          <a:xfrm>
            <a:off x="868680" y="4343400"/>
            <a:ext cx="146304" cy="146304"/>
          </a:xfrm>
          <a:prstGeom prst="ellipse">
            <a:avLst/>
          </a:prstGeom>
          <a:solidFill>
            <a:srgbClr val="F96167"/>
          </a:solidFill>
          <a:ln/>
        </p:spPr>
      </p:sp>
      <p:sp>
        <p:nvSpPr>
          <p:cNvPr id="12" name="Text 9"/>
          <p:cNvSpPr/>
          <p:nvPr/>
        </p:nvSpPr>
        <p:spPr>
          <a:xfrm>
            <a:off x="114300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Depends on availability of open ground, weather and daylight.</a:t>
            </a:r>
            <a:endParaRPr lang="en-US" sz="1250" dirty="0"/>
          </a:p>
        </p:txBody>
      </p:sp>
      <p:sp>
        <p:nvSpPr>
          <p:cNvPr id="13" name="Shape 10"/>
          <p:cNvSpPr/>
          <p:nvPr/>
        </p:nvSpPr>
        <p:spPr>
          <a:xfrm>
            <a:off x="6537960" y="1417320"/>
            <a:ext cx="5074920" cy="4846320"/>
          </a:xfrm>
          <a:prstGeom prst="roundRect">
            <a:avLst>
              <a:gd name="adj" fmla="val 2264"/>
            </a:avLst>
          </a:prstGeom>
          <a:solidFill>
            <a:srgbClr val="E7EBFA"/>
          </a:solidFill>
          <a:ln w="12700">
            <a:solidFill>
              <a:srgbClr val="2F3C7E"/>
            </a:solidFill>
            <a:prstDash val="solid"/>
          </a:ln>
        </p:spPr>
      </p:sp>
      <p:sp>
        <p:nvSpPr>
          <p:cNvPr id="14" name="Shape 11"/>
          <p:cNvSpPr/>
          <p:nvPr/>
        </p:nvSpPr>
        <p:spPr>
          <a:xfrm>
            <a:off x="6812280" y="1691640"/>
            <a:ext cx="640080" cy="640080"/>
          </a:xfrm>
          <a:prstGeom prst="ellipse">
            <a:avLst/>
          </a:prstGeom>
          <a:solidFill>
            <a:srgbClr val="2F3C7E"/>
          </a:solidFill>
          <a:ln/>
        </p:spPr>
      </p:sp>
      <p:pic>
        <p:nvPicPr>
          <p:cNvPr id="15" name="Image 1" descr="/home/claude/ppt/icons/coins_navy.png">    </p:cNvPr>
          <p:cNvPicPr>
            <a:picLocks noChangeAspect="1"/>
          </p:cNvPicPr>
          <p:nvPr/>
        </p:nvPicPr>
        <p:blipFill>
          <a:blip r:embed="rId2"/>
          <a:stretch>
            <a:fillRect/>
          </a:stretch>
        </p:blipFill>
        <p:spPr>
          <a:xfrm>
            <a:off x="6949440" y="1828800"/>
            <a:ext cx="365760" cy="365760"/>
          </a:xfrm>
          <a:prstGeom prst="rect">
            <a:avLst/>
          </a:prstGeom>
        </p:spPr>
      </p:pic>
      <p:sp>
        <p:nvSpPr>
          <p:cNvPr id="16" name="Text 12"/>
          <p:cNvSpPr/>
          <p:nvPr/>
        </p:nvSpPr>
        <p:spPr>
          <a:xfrm>
            <a:off x="7589520" y="1691640"/>
            <a:ext cx="3977640" cy="6400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Mobile Games</a:t>
            </a:r>
            <a:endParaRPr lang="en-US" sz="1600" dirty="0"/>
          </a:p>
        </p:txBody>
      </p:sp>
      <p:sp>
        <p:nvSpPr>
          <p:cNvPr id="17" name="Shape 13"/>
          <p:cNvSpPr/>
          <p:nvPr/>
        </p:nvSpPr>
        <p:spPr>
          <a:xfrm>
            <a:off x="6858000" y="2606040"/>
            <a:ext cx="146304" cy="146304"/>
          </a:xfrm>
          <a:prstGeom prst="ellipse">
            <a:avLst/>
          </a:prstGeom>
          <a:solidFill>
            <a:srgbClr val="2F3C7E"/>
          </a:solidFill>
          <a:ln/>
        </p:spPr>
      </p:sp>
      <p:sp>
        <p:nvSpPr>
          <p:cNvPr id="18" name="Text 14"/>
          <p:cNvSpPr/>
          <p:nvPr/>
        </p:nvSpPr>
        <p:spPr>
          <a:xfrm>
            <a:off x="713232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Free-to-play, but many games use in-app purchases and microtransactions.</a:t>
            </a:r>
            <a:endParaRPr lang="en-US" sz="1250" dirty="0"/>
          </a:p>
        </p:txBody>
      </p:sp>
      <p:sp>
        <p:nvSpPr>
          <p:cNvPr id="19" name="Shape 15"/>
          <p:cNvSpPr/>
          <p:nvPr/>
        </p:nvSpPr>
        <p:spPr>
          <a:xfrm>
            <a:off x="6858000" y="3474720"/>
            <a:ext cx="146304" cy="146304"/>
          </a:xfrm>
          <a:prstGeom prst="ellipse">
            <a:avLst/>
          </a:prstGeom>
          <a:solidFill>
            <a:srgbClr val="2F3C7E"/>
          </a:solidFill>
          <a:ln/>
        </p:spPr>
      </p:sp>
      <p:sp>
        <p:nvSpPr>
          <p:cNvPr id="20" name="Text 16"/>
          <p:cNvSpPr/>
          <p:nvPr/>
        </p:nvSpPr>
        <p:spPr>
          <a:xfrm>
            <a:off x="713232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Requires a smartphone, internet/data and battery — a real cost barrier.</a:t>
            </a:r>
            <a:endParaRPr lang="en-US" sz="1250" dirty="0"/>
          </a:p>
        </p:txBody>
      </p:sp>
      <p:sp>
        <p:nvSpPr>
          <p:cNvPr id="21" name="Shape 17"/>
          <p:cNvSpPr/>
          <p:nvPr/>
        </p:nvSpPr>
        <p:spPr>
          <a:xfrm>
            <a:off x="6858000" y="4343400"/>
            <a:ext cx="146304" cy="146304"/>
          </a:xfrm>
          <a:prstGeom prst="ellipse">
            <a:avLst/>
          </a:prstGeom>
          <a:solidFill>
            <a:srgbClr val="2F3C7E"/>
          </a:solidFill>
          <a:ln/>
        </p:spPr>
      </p:sp>
      <p:sp>
        <p:nvSpPr>
          <p:cNvPr id="22" name="Text 18"/>
          <p:cNvSpPr/>
          <p:nvPr/>
        </p:nvSpPr>
        <p:spPr>
          <a:xfrm>
            <a:off x="713232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Playable anytime, anywhere — indoors, outdoors, while travelling.</a:t>
            </a:r>
            <a:endParaRPr lang="en-US" sz="1250" dirty="0"/>
          </a:p>
        </p:txBody>
      </p:sp>
      <p:sp>
        <p:nvSpPr>
          <p:cNvPr id="23" name="Text 19"/>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24" name="Text 2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Screen Time &amp; Addiction Concerns</a:t>
            </a:r>
            <a:endParaRPr lang="en-US" sz="3200" dirty="0"/>
          </a:p>
        </p:txBody>
      </p:sp>
      <p:sp>
        <p:nvSpPr>
          <p:cNvPr id="3" name="Shape 1"/>
          <p:cNvSpPr/>
          <p:nvPr/>
        </p:nvSpPr>
        <p:spPr>
          <a:xfrm>
            <a:off x="548640" y="1417320"/>
            <a:ext cx="5074920" cy="4846320"/>
          </a:xfrm>
          <a:prstGeom prst="roundRect">
            <a:avLst>
              <a:gd name="adj" fmla="val 2264"/>
            </a:avLst>
          </a:prstGeom>
          <a:solidFill>
            <a:srgbClr val="FDEDEE"/>
          </a:solidFill>
          <a:ln w="12700">
            <a:solidFill>
              <a:srgbClr val="F96167"/>
            </a:solidFill>
            <a:prstDash val="solid"/>
          </a:ln>
        </p:spPr>
      </p:sp>
      <p:sp>
        <p:nvSpPr>
          <p:cNvPr id="4" name="Shape 2"/>
          <p:cNvSpPr/>
          <p:nvPr/>
        </p:nvSpPr>
        <p:spPr>
          <a:xfrm>
            <a:off x="822960" y="1691640"/>
            <a:ext cx="640080" cy="640080"/>
          </a:xfrm>
          <a:prstGeom prst="ellipse">
            <a:avLst/>
          </a:prstGeom>
          <a:solidFill>
            <a:srgbClr val="F96167"/>
          </a:solidFill>
          <a:ln/>
        </p:spPr>
      </p:sp>
      <p:pic>
        <p:nvPicPr>
          <p:cNvPr id="5" name="Image 0" descr="/home/claude/ppt/icons/clock_coral.png">    </p:cNvPr>
          <p:cNvPicPr>
            <a:picLocks noChangeAspect="1"/>
          </p:cNvPicPr>
          <p:nvPr/>
        </p:nvPicPr>
        <p:blipFill>
          <a:blip r:embed="rId1"/>
          <a:stretch>
            <a:fillRect/>
          </a:stretch>
        </p:blipFill>
        <p:spPr>
          <a:xfrm>
            <a:off x="960120" y="1828800"/>
            <a:ext cx="365760" cy="365760"/>
          </a:xfrm>
          <a:prstGeom prst="rect">
            <a:avLst/>
          </a:prstGeom>
        </p:spPr>
      </p:pic>
      <p:sp>
        <p:nvSpPr>
          <p:cNvPr id="6" name="Text 3"/>
          <p:cNvSpPr/>
          <p:nvPr/>
        </p:nvSpPr>
        <p:spPr>
          <a:xfrm>
            <a:off x="1600200" y="1691640"/>
            <a:ext cx="3977640" cy="640080"/>
          </a:xfrm>
          <a:prstGeom prst="rect">
            <a:avLst/>
          </a:prstGeom>
          <a:noFill/>
          <a:ln/>
        </p:spPr>
        <p:txBody>
          <a:bodyPr wrap="square" lIns="0" tIns="0" rIns="0" bIns="0" rtlCol="0" anchor="ctr"/>
          <a:lstStyle/>
          <a:p>
            <a:pPr indent="0" marL="0">
              <a:buNone/>
            </a:pPr>
            <a:r>
              <a:rPr lang="en-US" sz="1600" b="1" dirty="0">
                <a:solidFill>
                  <a:srgbClr val="F96167"/>
                </a:solidFill>
                <a:latin typeface="Calibri" pitchFamily="34" charset="0"/>
                <a:ea typeface="Calibri" pitchFamily="34" charset="-122"/>
                <a:cs typeface="Calibri" pitchFamily="34" charset="-120"/>
              </a:rPr>
              <a:t>Traditional Games</a:t>
            </a:r>
            <a:endParaRPr lang="en-US" sz="1600" dirty="0"/>
          </a:p>
        </p:txBody>
      </p:sp>
      <p:sp>
        <p:nvSpPr>
          <p:cNvPr id="7" name="Shape 4"/>
          <p:cNvSpPr/>
          <p:nvPr/>
        </p:nvSpPr>
        <p:spPr>
          <a:xfrm>
            <a:off x="868680" y="2606040"/>
            <a:ext cx="146304" cy="146304"/>
          </a:xfrm>
          <a:prstGeom prst="ellipse">
            <a:avLst/>
          </a:prstGeom>
          <a:solidFill>
            <a:srgbClr val="F96167"/>
          </a:solidFill>
          <a:ln/>
        </p:spPr>
      </p:sp>
      <p:sp>
        <p:nvSpPr>
          <p:cNvPr id="8" name="Text 5"/>
          <p:cNvSpPr/>
          <p:nvPr/>
        </p:nvSpPr>
        <p:spPr>
          <a:xfrm>
            <a:off x="114300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Naturally time-bound — games end with tiredness, daylight or group availability.</a:t>
            </a:r>
            <a:endParaRPr lang="en-US" sz="1250" dirty="0"/>
          </a:p>
        </p:txBody>
      </p:sp>
      <p:sp>
        <p:nvSpPr>
          <p:cNvPr id="9" name="Shape 6"/>
          <p:cNvSpPr/>
          <p:nvPr/>
        </p:nvSpPr>
        <p:spPr>
          <a:xfrm>
            <a:off x="868680" y="3474720"/>
            <a:ext cx="146304" cy="146304"/>
          </a:xfrm>
          <a:prstGeom prst="ellipse">
            <a:avLst/>
          </a:prstGeom>
          <a:solidFill>
            <a:srgbClr val="F96167"/>
          </a:solidFill>
          <a:ln/>
        </p:spPr>
      </p:sp>
      <p:sp>
        <p:nvSpPr>
          <p:cNvPr id="10" name="Text 7"/>
          <p:cNvSpPr/>
          <p:nvPr/>
        </p:nvSpPr>
        <p:spPr>
          <a:xfrm>
            <a:off x="114300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Low risk of compulsive or addictive behaviour patterns.</a:t>
            </a:r>
            <a:endParaRPr lang="en-US" sz="1250" dirty="0"/>
          </a:p>
        </p:txBody>
      </p:sp>
      <p:sp>
        <p:nvSpPr>
          <p:cNvPr id="11" name="Shape 8"/>
          <p:cNvSpPr/>
          <p:nvPr/>
        </p:nvSpPr>
        <p:spPr>
          <a:xfrm>
            <a:off x="868680" y="4343400"/>
            <a:ext cx="146304" cy="146304"/>
          </a:xfrm>
          <a:prstGeom prst="ellipse">
            <a:avLst/>
          </a:prstGeom>
          <a:solidFill>
            <a:srgbClr val="F96167"/>
          </a:solidFill>
          <a:ln/>
        </p:spPr>
      </p:sp>
      <p:sp>
        <p:nvSpPr>
          <p:cNvPr id="12" name="Text 9"/>
          <p:cNvSpPr/>
          <p:nvPr/>
        </p:nvSpPr>
        <p:spPr>
          <a:xfrm>
            <a:off x="114300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Encourages a healthy break from screens and devices.</a:t>
            </a:r>
            <a:endParaRPr lang="en-US" sz="1250" dirty="0"/>
          </a:p>
        </p:txBody>
      </p:sp>
      <p:sp>
        <p:nvSpPr>
          <p:cNvPr id="13" name="Shape 10"/>
          <p:cNvSpPr/>
          <p:nvPr/>
        </p:nvSpPr>
        <p:spPr>
          <a:xfrm>
            <a:off x="6537960" y="1417320"/>
            <a:ext cx="5074920" cy="4846320"/>
          </a:xfrm>
          <a:prstGeom prst="roundRect">
            <a:avLst>
              <a:gd name="adj" fmla="val 2264"/>
            </a:avLst>
          </a:prstGeom>
          <a:solidFill>
            <a:srgbClr val="E7EBFA"/>
          </a:solidFill>
          <a:ln w="12700">
            <a:solidFill>
              <a:srgbClr val="2F3C7E"/>
            </a:solidFill>
            <a:prstDash val="solid"/>
          </a:ln>
        </p:spPr>
      </p:sp>
      <p:sp>
        <p:nvSpPr>
          <p:cNvPr id="14" name="Shape 11"/>
          <p:cNvSpPr/>
          <p:nvPr/>
        </p:nvSpPr>
        <p:spPr>
          <a:xfrm>
            <a:off x="6812280" y="1691640"/>
            <a:ext cx="640080" cy="640080"/>
          </a:xfrm>
          <a:prstGeom prst="ellipse">
            <a:avLst/>
          </a:prstGeom>
          <a:solidFill>
            <a:srgbClr val="2F3C7E"/>
          </a:solidFill>
          <a:ln/>
        </p:spPr>
      </p:sp>
      <p:pic>
        <p:nvPicPr>
          <p:cNvPr id="15" name="Image 1" descr="/home/claude/ppt/icons/clock_navy.png">    </p:cNvPr>
          <p:cNvPicPr>
            <a:picLocks noChangeAspect="1"/>
          </p:cNvPicPr>
          <p:nvPr/>
        </p:nvPicPr>
        <p:blipFill>
          <a:blip r:embed="rId2"/>
          <a:stretch>
            <a:fillRect/>
          </a:stretch>
        </p:blipFill>
        <p:spPr>
          <a:xfrm>
            <a:off x="6949440" y="1828800"/>
            <a:ext cx="365760" cy="365760"/>
          </a:xfrm>
          <a:prstGeom prst="rect">
            <a:avLst/>
          </a:prstGeom>
        </p:spPr>
      </p:pic>
      <p:sp>
        <p:nvSpPr>
          <p:cNvPr id="16" name="Text 12"/>
          <p:cNvSpPr/>
          <p:nvPr/>
        </p:nvSpPr>
        <p:spPr>
          <a:xfrm>
            <a:off x="7589520" y="1691640"/>
            <a:ext cx="3977640" cy="6400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Mobile Games</a:t>
            </a:r>
            <a:endParaRPr lang="en-US" sz="1600" dirty="0"/>
          </a:p>
        </p:txBody>
      </p:sp>
      <p:sp>
        <p:nvSpPr>
          <p:cNvPr id="17" name="Shape 13"/>
          <p:cNvSpPr/>
          <p:nvPr/>
        </p:nvSpPr>
        <p:spPr>
          <a:xfrm>
            <a:off x="6858000" y="2606040"/>
            <a:ext cx="146304" cy="146304"/>
          </a:xfrm>
          <a:prstGeom prst="ellipse">
            <a:avLst/>
          </a:prstGeom>
          <a:solidFill>
            <a:srgbClr val="2F3C7E"/>
          </a:solidFill>
          <a:ln/>
        </p:spPr>
      </p:sp>
      <p:sp>
        <p:nvSpPr>
          <p:cNvPr id="18" name="Text 14"/>
          <p:cNvSpPr/>
          <p:nvPr/>
        </p:nvSpPr>
        <p:spPr>
          <a:xfrm>
            <a:off x="7132320" y="256032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Designed with reward loops, streaks and notifications to maximize playtime.</a:t>
            </a:r>
            <a:endParaRPr lang="en-US" sz="1250" dirty="0"/>
          </a:p>
        </p:txBody>
      </p:sp>
      <p:sp>
        <p:nvSpPr>
          <p:cNvPr id="19" name="Shape 15"/>
          <p:cNvSpPr/>
          <p:nvPr/>
        </p:nvSpPr>
        <p:spPr>
          <a:xfrm>
            <a:off x="6858000" y="3474720"/>
            <a:ext cx="146304" cy="146304"/>
          </a:xfrm>
          <a:prstGeom prst="ellipse">
            <a:avLst/>
          </a:prstGeom>
          <a:solidFill>
            <a:srgbClr val="2F3C7E"/>
          </a:solidFill>
          <a:ln/>
        </p:spPr>
      </p:sp>
      <p:sp>
        <p:nvSpPr>
          <p:cNvPr id="20" name="Text 16"/>
          <p:cNvSpPr/>
          <p:nvPr/>
        </p:nvSpPr>
        <p:spPr>
          <a:xfrm>
            <a:off x="7132320" y="342900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Linked to excessive screen time, poor sleep and reduced study focus.</a:t>
            </a:r>
            <a:endParaRPr lang="en-US" sz="1250" dirty="0"/>
          </a:p>
        </p:txBody>
      </p:sp>
      <p:sp>
        <p:nvSpPr>
          <p:cNvPr id="21" name="Shape 17"/>
          <p:cNvSpPr/>
          <p:nvPr/>
        </p:nvSpPr>
        <p:spPr>
          <a:xfrm>
            <a:off x="6858000" y="4343400"/>
            <a:ext cx="146304" cy="146304"/>
          </a:xfrm>
          <a:prstGeom prst="ellipse">
            <a:avLst/>
          </a:prstGeom>
          <a:solidFill>
            <a:srgbClr val="2F3C7E"/>
          </a:solidFill>
          <a:ln/>
        </p:spPr>
      </p:sp>
      <p:sp>
        <p:nvSpPr>
          <p:cNvPr id="22" name="Text 18"/>
          <p:cNvSpPr/>
          <p:nvPr/>
        </p:nvSpPr>
        <p:spPr>
          <a:xfrm>
            <a:off x="7132320" y="4297680"/>
            <a:ext cx="4389120" cy="822960"/>
          </a:xfrm>
          <a:prstGeom prst="rect">
            <a:avLst/>
          </a:prstGeom>
          <a:noFill/>
          <a:ln/>
        </p:spPr>
        <p:txBody>
          <a:bodyPr wrap="square" lIns="0" tIns="0" rIns="0" bIns="0" rtlCol="0" anchor="t"/>
          <a:lstStyle/>
          <a:p>
            <a:pPr indent="0" marL="0">
              <a:buNone/>
            </a:pPr>
            <a:r>
              <a:rPr lang="en-US" sz="1250" dirty="0">
                <a:solidFill>
                  <a:srgbClr val="242424"/>
                </a:solidFill>
                <a:latin typeface="Calibri" pitchFamily="34" charset="0"/>
                <a:ea typeface="Calibri" pitchFamily="34" charset="-122"/>
                <a:cs typeface="Calibri" pitchFamily="34" charset="-120"/>
              </a:rPr>
              <a:t>Risk of gaming disorder with unmonitored, prolonged use.</a:t>
            </a:r>
            <a:endParaRPr lang="en-US" sz="1250" dirty="0"/>
          </a:p>
        </p:txBody>
      </p:sp>
      <p:sp>
        <p:nvSpPr>
          <p:cNvPr id="23" name="Text 19"/>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24" name="Text 2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F96167"/>
                </a:solidFill>
                <a:latin typeface="Cambria" pitchFamily="34" charset="0"/>
                <a:ea typeface="Cambria" pitchFamily="34" charset="-122"/>
                <a:cs typeface="Cambria" pitchFamily="34" charset="-120"/>
              </a:rPr>
              <a:t>Cultural Value &amp; Heritage</a:t>
            </a:r>
            <a:endParaRPr lang="en-US" sz="3200" dirty="0"/>
          </a:p>
        </p:txBody>
      </p:sp>
      <p:sp>
        <p:nvSpPr>
          <p:cNvPr id="3" name="Shape 1"/>
          <p:cNvSpPr/>
          <p:nvPr/>
        </p:nvSpPr>
        <p:spPr>
          <a:xfrm>
            <a:off x="7955280" y="1463040"/>
            <a:ext cx="3566160" cy="4206240"/>
          </a:xfrm>
          <a:prstGeom prst="roundRect">
            <a:avLst>
              <a:gd name="adj" fmla="val 3846"/>
            </a:avLst>
          </a:prstGeom>
          <a:solidFill>
            <a:srgbClr val="F96167"/>
          </a:solidFill>
          <a:ln/>
        </p:spPr>
      </p:sp>
      <p:sp>
        <p:nvSpPr>
          <p:cNvPr id="4" name="Shape 2"/>
          <p:cNvSpPr/>
          <p:nvPr/>
        </p:nvSpPr>
        <p:spPr>
          <a:xfrm>
            <a:off x="9281160" y="1874520"/>
            <a:ext cx="914400" cy="914400"/>
          </a:xfrm>
          <a:prstGeom prst="ellipse">
            <a:avLst/>
          </a:prstGeom>
          <a:solidFill>
            <a:srgbClr val="FFFFFF"/>
          </a:solidFill>
          <a:ln/>
        </p:spPr>
      </p:sp>
      <p:pic>
        <p:nvPicPr>
          <p:cNvPr id="5" name="Image 0" descr="/home/claude/ppt/icons/globe_navy.png">    </p:cNvPr>
          <p:cNvPicPr>
            <a:picLocks noChangeAspect="1"/>
          </p:cNvPicPr>
          <p:nvPr/>
        </p:nvPicPr>
        <p:blipFill>
          <a:blip r:embed="rId1"/>
          <a:stretch>
            <a:fillRect/>
          </a:stretch>
        </p:blipFill>
        <p:spPr>
          <a:xfrm>
            <a:off x="9464040" y="2057400"/>
            <a:ext cx="548640" cy="548640"/>
          </a:xfrm>
          <a:prstGeom prst="rect">
            <a:avLst/>
          </a:prstGeom>
        </p:spPr>
      </p:pic>
      <p:sp>
        <p:nvSpPr>
          <p:cNvPr id="6" name="Text 3"/>
          <p:cNvSpPr/>
          <p:nvPr/>
        </p:nvSpPr>
        <p:spPr>
          <a:xfrm>
            <a:off x="8183880" y="2971800"/>
            <a:ext cx="301752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Games as living heritage</a:t>
            </a:r>
            <a:endParaRPr lang="en-US" sz="1500" dirty="0"/>
          </a:p>
        </p:txBody>
      </p:sp>
      <p:sp>
        <p:nvSpPr>
          <p:cNvPr id="7" name="Text 4"/>
          <p:cNvSpPr/>
          <p:nvPr/>
        </p:nvSpPr>
        <p:spPr>
          <a:xfrm>
            <a:off x="8183880" y="3657600"/>
            <a:ext cx="3017520" cy="17373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Many traditional games carry regional identity, folklore and community values that mobile games do not replicate.</a:t>
            </a:r>
            <a:endParaRPr lang="en-US" sz="1150" dirty="0"/>
          </a:p>
        </p:txBody>
      </p:sp>
      <p:sp>
        <p:nvSpPr>
          <p:cNvPr id="8" name="Shape 5"/>
          <p:cNvSpPr/>
          <p:nvPr/>
        </p:nvSpPr>
        <p:spPr>
          <a:xfrm>
            <a:off x="548640" y="1508760"/>
            <a:ext cx="320040" cy="320040"/>
          </a:xfrm>
          <a:prstGeom prst="ellipse">
            <a:avLst/>
          </a:prstGeom>
          <a:solidFill>
            <a:srgbClr val="2F3C7E"/>
          </a:solidFill>
          <a:ln/>
        </p:spPr>
      </p:sp>
      <p:sp>
        <p:nvSpPr>
          <p:cNvPr id="9" name="Text 6"/>
          <p:cNvSpPr/>
          <p:nvPr/>
        </p:nvSpPr>
        <p:spPr>
          <a:xfrm>
            <a:off x="548640" y="150876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005840" y="1463040"/>
            <a:ext cx="6675120" cy="960120"/>
          </a:xfrm>
          <a:prstGeom prst="rect">
            <a:avLst/>
          </a:prstGeom>
          <a:noFill/>
          <a:ln/>
        </p:spPr>
        <p:txBody>
          <a:bodyPr wrap="square" lIns="0" tIns="0" rIns="0" bIns="0" rtlCol="0" anchor="ctr"/>
          <a:lstStyle/>
          <a:p>
            <a:pPr indent="0" marL="0">
              <a:buNone/>
            </a:pPr>
            <a:r>
              <a:rPr lang="en-US" sz="1250" dirty="0">
                <a:solidFill>
                  <a:srgbClr val="242424"/>
                </a:solidFill>
                <a:latin typeface="Calibri" pitchFamily="34" charset="0"/>
                <a:ea typeface="Calibri" pitchFamily="34" charset="-122"/>
                <a:cs typeface="Calibri" pitchFamily="34" charset="-120"/>
              </a:rPr>
              <a:t>Traditional games like gilli-danda, kho-kho and lattoo (spinning top) are tied to festivals, seasons and local folklore.</a:t>
            </a:r>
            <a:endParaRPr lang="en-US" sz="1250" dirty="0"/>
          </a:p>
        </p:txBody>
      </p:sp>
      <p:sp>
        <p:nvSpPr>
          <p:cNvPr id="11" name="Shape 8"/>
          <p:cNvSpPr/>
          <p:nvPr/>
        </p:nvSpPr>
        <p:spPr>
          <a:xfrm>
            <a:off x="548640" y="2560320"/>
            <a:ext cx="320040" cy="320040"/>
          </a:xfrm>
          <a:prstGeom prst="ellipse">
            <a:avLst/>
          </a:prstGeom>
          <a:solidFill>
            <a:srgbClr val="2F3C7E"/>
          </a:solidFill>
          <a:ln/>
        </p:spPr>
      </p:sp>
      <p:sp>
        <p:nvSpPr>
          <p:cNvPr id="12" name="Text 9"/>
          <p:cNvSpPr/>
          <p:nvPr/>
        </p:nvSpPr>
        <p:spPr>
          <a:xfrm>
            <a:off x="548640" y="256032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p:nvPr/>
        </p:nvSpPr>
        <p:spPr>
          <a:xfrm>
            <a:off x="1005840" y="2514600"/>
            <a:ext cx="6675120" cy="960120"/>
          </a:xfrm>
          <a:prstGeom prst="rect">
            <a:avLst/>
          </a:prstGeom>
          <a:noFill/>
          <a:ln/>
        </p:spPr>
        <p:txBody>
          <a:bodyPr wrap="square" lIns="0" tIns="0" rIns="0" bIns="0" rtlCol="0" anchor="ctr"/>
          <a:lstStyle/>
          <a:p>
            <a:pPr indent="0" marL="0">
              <a:buNone/>
            </a:pPr>
            <a:r>
              <a:rPr lang="en-US" sz="1250" dirty="0">
                <a:solidFill>
                  <a:srgbClr val="242424"/>
                </a:solidFill>
                <a:latin typeface="Calibri" pitchFamily="34" charset="0"/>
                <a:ea typeface="Calibri" pitchFamily="34" charset="-122"/>
                <a:cs typeface="Calibri" pitchFamily="34" charset="-120"/>
              </a:rPr>
              <a:t>They preserve regional identity and are passed down orally from grandparents to grandchildren.</a:t>
            </a:r>
            <a:endParaRPr lang="en-US" sz="1250" dirty="0"/>
          </a:p>
        </p:txBody>
      </p:sp>
      <p:sp>
        <p:nvSpPr>
          <p:cNvPr id="14" name="Shape 11"/>
          <p:cNvSpPr/>
          <p:nvPr/>
        </p:nvSpPr>
        <p:spPr>
          <a:xfrm>
            <a:off x="548640" y="3611880"/>
            <a:ext cx="320040" cy="320040"/>
          </a:xfrm>
          <a:prstGeom prst="ellipse">
            <a:avLst/>
          </a:prstGeom>
          <a:solidFill>
            <a:srgbClr val="2F3C7E"/>
          </a:solidFill>
          <a:ln/>
        </p:spPr>
      </p:sp>
      <p:sp>
        <p:nvSpPr>
          <p:cNvPr id="15" name="Text 12"/>
          <p:cNvSpPr/>
          <p:nvPr/>
        </p:nvSpPr>
        <p:spPr>
          <a:xfrm>
            <a:off x="548640" y="361188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3"/>
          <p:cNvSpPr/>
          <p:nvPr/>
        </p:nvSpPr>
        <p:spPr>
          <a:xfrm>
            <a:off x="1005840" y="3566160"/>
            <a:ext cx="6675120" cy="960120"/>
          </a:xfrm>
          <a:prstGeom prst="rect">
            <a:avLst/>
          </a:prstGeom>
          <a:noFill/>
          <a:ln/>
        </p:spPr>
        <p:txBody>
          <a:bodyPr wrap="square" lIns="0" tIns="0" rIns="0" bIns="0" rtlCol="0" anchor="ctr"/>
          <a:lstStyle/>
          <a:p>
            <a:pPr indent="0" marL="0">
              <a:buNone/>
            </a:pPr>
            <a:r>
              <a:rPr lang="en-US" sz="1250" dirty="0">
                <a:solidFill>
                  <a:srgbClr val="242424"/>
                </a:solidFill>
                <a:latin typeface="Calibri" pitchFamily="34" charset="0"/>
                <a:ea typeface="Calibri" pitchFamily="34" charset="-122"/>
                <a:cs typeface="Calibri" pitchFamily="34" charset="-120"/>
              </a:rPr>
              <a:t>Mobile games are largely globalized and standardized, offering little connection to local culture or heritage.</a:t>
            </a:r>
            <a:endParaRPr lang="en-US" sz="1250" dirty="0"/>
          </a:p>
        </p:txBody>
      </p:sp>
      <p:sp>
        <p:nvSpPr>
          <p:cNvPr id="17" name="Shape 14"/>
          <p:cNvSpPr/>
          <p:nvPr/>
        </p:nvSpPr>
        <p:spPr>
          <a:xfrm>
            <a:off x="548640" y="4663440"/>
            <a:ext cx="320040" cy="320040"/>
          </a:xfrm>
          <a:prstGeom prst="ellipse">
            <a:avLst/>
          </a:prstGeom>
          <a:solidFill>
            <a:srgbClr val="2F3C7E"/>
          </a:solidFill>
          <a:ln/>
        </p:spPr>
      </p:sp>
      <p:sp>
        <p:nvSpPr>
          <p:cNvPr id="18" name="Text 15"/>
          <p:cNvSpPr/>
          <p:nvPr/>
        </p:nvSpPr>
        <p:spPr>
          <a:xfrm>
            <a:off x="548640" y="466344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6"/>
          <p:cNvSpPr/>
          <p:nvPr/>
        </p:nvSpPr>
        <p:spPr>
          <a:xfrm>
            <a:off x="1005840" y="4617720"/>
            <a:ext cx="6675120" cy="960120"/>
          </a:xfrm>
          <a:prstGeom prst="rect">
            <a:avLst/>
          </a:prstGeom>
          <a:noFill/>
          <a:ln/>
        </p:spPr>
        <p:txBody>
          <a:bodyPr wrap="square" lIns="0" tIns="0" rIns="0" bIns="0" rtlCol="0" anchor="ctr"/>
          <a:lstStyle/>
          <a:p>
            <a:pPr indent="0" marL="0">
              <a:buNone/>
            </a:pPr>
            <a:r>
              <a:rPr lang="en-US" sz="1250" dirty="0">
                <a:solidFill>
                  <a:srgbClr val="242424"/>
                </a:solidFill>
                <a:latin typeface="Calibri" pitchFamily="34" charset="0"/>
                <a:ea typeface="Calibri" pitchFamily="34" charset="-122"/>
                <a:cs typeface="Calibri" pitchFamily="34" charset="-120"/>
              </a:rPr>
              <a:t>Reviving traditional games in schools helps sustain cultural memory alongside modern digital play.</a:t>
            </a:r>
            <a:endParaRPr lang="en-US" sz="1250" dirty="0"/>
          </a:p>
        </p:txBody>
      </p:sp>
      <p:sp>
        <p:nvSpPr>
          <p:cNvPr id="20"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21" name="Text 18"/>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Survey / Sample — Methodology</a:t>
            </a:r>
            <a:endParaRPr lang="en-US" sz="3200" dirty="0"/>
          </a:p>
        </p:txBody>
      </p:sp>
      <p:sp>
        <p:nvSpPr>
          <p:cNvPr id="3" name="Shape 1"/>
          <p:cNvSpPr/>
          <p:nvPr/>
        </p:nvSpPr>
        <p:spPr>
          <a:xfrm>
            <a:off x="548640" y="1554480"/>
            <a:ext cx="2514600" cy="2286000"/>
          </a:xfrm>
          <a:prstGeom prst="roundRect">
            <a:avLst>
              <a:gd name="adj" fmla="val 4800"/>
            </a:avLst>
          </a:prstGeom>
          <a:solidFill>
            <a:srgbClr val="FFFFFF"/>
          </a:solidFill>
          <a:ln w="12700">
            <a:solidFill>
              <a:srgbClr val="DDDDDD"/>
            </a:solidFill>
            <a:prstDash val="solid"/>
          </a:ln>
          <a:effectLst>
            <a:outerShdw sx="100000" sy="100000" kx="0" ky="0" algn="bl" rotWithShape="0" blurRad="63500" dist="25400" dir="5400000">
              <a:srgbClr val="888888">
                <a:alpha val="20000"/>
              </a:srgbClr>
            </a:outerShdw>
          </a:effectLst>
        </p:spPr>
      </p:sp>
      <p:sp>
        <p:nvSpPr>
          <p:cNvPr id="4" name="Shape 2"/>
          <p:cNvSpPr/>
          <p:nvPr/>
        </p:nvSpPr>
        <p:spPr>
          <a:xfrm>
            <a:off x="1440180" y="1783080"/>
            <a:ext cx="731520" cy="731520"/>
          </a:xfrm>
          <a:prstGeom prst="ellipse">
            <a:avLst/>
          </a:prstGeom>
          <a:solidFill>
            <a:srgbClr val="F0F0F8"/>
          </a:solidFill>
          <a:ln/>
        </p:spPr>
      </p:sp>
      <p:pic>
        <p:nvPicPr>
          <p:cNvPr id="5" name="Image 0" descr="/home/claude/ppt/icons/clipboard_coral.png">    </p:cNvPr>
          <p:cNvPicPr>
            <a:picLocks noChangeAspect="1"/>
          </p:cNvPicPr>
          <p:nvPr/>
        </p:nvPicPr>
        <p:blipFill>
          <a:blip r:embed="rId1"/>
          <a:stretch>
            <a:fillRect/>
          </a:stretch>
        </p:blipFill>
        <p:spPr>
          <a:xfrm>
            <a:off x="1577340" y="1920240"/>
            <a:ext cx="457200" cy="457200"/>
          </a:xfrm>
          <a:prstGeom prst="rect">
            <a:avLst/>
          </a:prstGeom>
        </p:spPr>
      </p:pic>
      <p:sp>
        <p:nvSpPr>
          <p:cNvPr id="6" name="Text 3"/>
          <p:cNvSpPr/>
          <p:nvPr/>
        </p:nvSpPr>
        <p:spPr>
          <a:xfrm>
            <a:off x="685800" y="2651760"/>
            <a:ext cx="2240280" cy="365760"/>
          </a:xfrm>
          <a:prstGeom prst="rect">
            <a:avLst/>
          </a:prstGeom>
          <a:noFill/>
          <a:ln/>
        </p:spPr>
        <p:txBody>
          <a:bodyPr wrap="square" lIns="0" tIns="0" rIns="0" bIns="0" rtlCol="0" anchor="ctr"/>
          <a:lstStyle/>
          <a:p>
            <a:pPr algn="ctr" indent="0" marL="0">
              <a:buNone/>
            </a:pPr>
            <a:r>
              <a:rPr lang="en-US" sz="1350" b="1" dirty="0">
                <a:solidFill>
                  <a:srgbClr val="2F3C7E"/>
                </a:solidFill>
                <a:latin typeface="Calibri" pitchFamily="34" charset="0"/>
                <a:ea typeface="Calibri" pitchFamily="34" charset="-122"/>
                <a:cs typeface="Calibri" pitchFamily="34" charset="-120"/>
              </a:rPr>
              <a:t>Method</a:t>
            </a:r>
            <a:endParaRPr lang="en-US" sz="1350" dirty="0"/>
          </a:p>
        </p:txBody>
      </p:sp>
      <p:sp>
        <p:nvSpPr>
          <p:cNvPr id="7" name="Text 4"/>
          <p:cNvSpPr/>
          <p:nvPr/>
        </p:nvSpPr>
        <p:spPr>
          <a:xfrm>
            <a:off x="731520" y="3063240"/>
            <a:ext cx="2148840" cy="731520"/>
          </a:xfrm>
          <a:prstGeom prst="rect">
            <a:avLst/>
          </a:prstGeom>
          <a:noFill/>
          <a:ln/>
        </p:spPr>
        <p:txBody>
          <a:bodyPr wrap="square" lIns="0" tIns="0" rIns="0" bIns="0" rtlCol="0" anchor="ctr"/>
          <a:lstStyle/>
          <a:p>
            <a:pPr algn="ctr" indent="0" marL="0">
              <a:buNone/>
            </a:pPr>
            <a:r>
              <a:rPr lang="en-US" sz="1050" dirty="0">
                <a:solidFill>
                  <a:srgbClr val="6B6B6B"/>
                </a:solidFill>
                <a:latin typeface="Calibri" pitchFamily="34" charset="0"/>
                <a:ea typeface="Calibri" pitchFamily="34" charset="-122"/>
                <a:cs typeface="Calibri" pitchFamily="34" charset="-120"/>
              </a:rPr>
              <a:t>Structured questionnaire (Google Form) with closed-ended questions</a:t>
            </a:r>
            <a:endParaRPr lang="en-US" sz="1050" dirty="0"/>
          </a:p>
        </p:txBody>
      </p:sp>
      <p:sp>
        <p:nvSpPr>
          <p:cNvPr id="8" name="Shape 5"/>
          <p:cNvSpPr/>
          <p:nvPr/>
        </p:nvSpPr>
        <p:spPr>
          <a:xfrm>
            <a:off x="3337560" y="1554480"/>
            <a:ext cx="2514600" cy="2286000"/>
          </a:xfrm>
          <a:prstGeom prst="roundRect">
            <a:avLst>
              <a:gd name="adj" fmla="val 4800"/>
            </a:avLst>
          </a:prstGeom>
          <a:solidFill>
            <a:srgbClr val="FFFFFF"/>
          </a:solidFill>
          <a:ln w="12700">
            <a:solidFill>
              <a:srgbClr val="DDDDDD"/>
            </a:solidFill>
            <a:prstDash val="solid"/>
          </a:ln>
          <a:effectLst>
            <a:outerShdw sx="100000" sy="100000" kx="0" ky="0" algn="bl" rotWithShape="0" blurRad="63500" dist="25400" dir="5400000">
              <a:srgbClr val="888888">
                <a:alpha val="20000"/>
              </a:srgbClr>
            </a:outerShdw>
          </a:effectLst>
        </p:spPr>
      </p:sp>
      <p:sp>
        <p:nvSpPr>
          <p:cNvPr id="9" name="Shape 6"/>
          <p:cNvSpPr/>
          <p:nvPr/>
        </p:nvSpPr>
        <p:spPr>
          <a:xfrm>
            <a:off x="4229100" y="1783080"/>
            <a:ext cx="731520" cy="731520"/>
          </a:xfrm>
          <a:prstGeom prst="ellipse">
            <a:avLst/>
          </a:prstGeom>
          <a:solidFill>
            <a:srgbClr val="F0F0F8"/>
          </a:solidFill>
          <a:ln/>
        </p:spPr>
      </p:sp>
      <p:pic>
        <p:nvPicPr>
          <p:cNvPr id="10" name="Image 1" descr="/home/claude/ppt/icons/users_coral.png">    </p:cNvPr>
          <p:cNvPicPr>
            <a:picLocks noChangeAspect="1"/>
          </p:cNvPicPr>
          <p:nvPr/>
        </p:nvPicPr>
        <p:blipFill>
          <a:blip r:embed="rId2"/>
          <a:stretch>
            <a:fillRect/>
          </a:stretch>
        </p:blipFill>
        <p:spPr>
          <a:xfrm>
            <a:off x="4366260" y="1920240"/>
            <a:ext cx="457200" cy="457200"/>
          </a:xfrm>
          <a:prstGeom prst="rect">
            <a:avLst/>
          </a:prstGeom>
        </p:spPr>
      </p:pic>
      <p:sp>
        <p:nvSpPr>
          <p:cNvPr id="11" name="Text 7"/>
          <p:cNvSpPr/>
          <p:nvPr/>
        </p:nvSpPr>
        <p:spPr>
          <a:xfrm>
            <a:off x="3474720" y="2651760"/>
            <a:ext cx="2240280" cy="365760"/>
          </a:xfrm>
          <a:prstGeom prst="rect">
            <a:avLst/>
          </a:prstGeom>
          <a:noFill/>
          <a:ln/>
        </p:spPr>
        <p:txBody>
          <a:bodyPr wrap="square" lIns="0" tIns="0" rIns="0" bIns="0" rtlCol="0" anchor="ctr"/>
          <a:lstStyle/>
          <a:p>
            <a:pPr algn="ctr" indent="0" marL="0">
              <a:buNone/>
            </a:pPr>
            <a:r>
              <a:rPr lang="en-US" sz="1350" b="1" dirty="0">
                <a:solidFill>
                  <a:srgbClr val="2F3C7E"/>
                </a:solidFill>
                <a:latin typeface="Calibri" pitchFamily="34" charset="0"/>
                <a:ea typeface="Calibri" pitchFamily="34" charset="-122"/>
                <a:cs typeface="Calibri" pitchFamily="34" charset="-120"/>
              </a:rPr>
              <a:t>Sample Size</a:t>
            </a:r>
            <a:endParaRPr lang="en-US" sz="1350" dirty="0"/>
          </a:p>
        </p:txBody>
      </p:sp>
      <p:sp>
        <p:nvSpPr>
          <p:cNvPr id="12" name="Text 8"/>
          <p:cNvSpPr/>
          <p:nvPr/>
        </p:nvSpPr>
        <p:spPr>
          <a:xfrm>
            <a:off x="3520440" y="3063240"/>
            <a:ext cx="2148840" cy="731520"/>
          </a:xfrm>
          <a:prstGeom prst="rect">
            <a:avLst/>
          </a:prstGeom>
          <a:noFill/>
          <a:ln/>
        </p:spPr>
        <p:txBody>
          <a:bodyPr wrap="square" lIns="0" tIns="0" rIns="0" bIns="0" rtlCol="0" anchor="ctr"/>
          <a:lstStyle/>
          <a:p>
            <a:pPr algn="ctr" indent="0" marL="0">
              <a:buNone/>
            </a:pPr>
            <a:r>
              <a:rPr lang="en-US" sz="1050" dirty="0">
                <a:solidFill>
                  <a:srgbClr val="6B6B6B"/>
                </a:solidFill>
                <a:latin typeface="Calibri" pitchFamily="34" charset="0"/>
                <a:ea typeface="Calibri" pitchFamily="34" charset="-122"/>
                <a:cs typeface="Calibri" pitchFamily="34" charset="-120"/>
              </a:rPr>
              <a:t>60 respondents — college students aged 17-22</a:t>
            </a:r>
            <a:endParaRPr lang="en-US" sz="1050" dirty="0"/>
          </a:p>
        </p:txBody>
      </p:sp>
      <p:sp>
        <p:nvSpPr>
          <p:cNvPr id="13" name="Shape 9"/>
          <p:cNvSpPr/>
          <p:nvPr/>
        </p:nvSpPr>
        <p:spPr>
          <a:xfrm>
            <a:off x="6126480" y="1554480"/>
            <a:ext cx="2514600" cy="2286000"/>
          </a:xfrm>
          <a:prstGeom prst="roundRect">
            <a:avLst>
              <a:gd name="adj" fmla="val 4800"/>
            </a:avLst>
          </a:prstGeom>
          <a:solidFill>
            <a:srgbClr val="FFFFFF"/>
          </a:solidFill>
          <a:ln w="12700">
            <a:solidFill>
              <a:srgbClr val="DDDDDD"/>
            </a:solidFill>
            <a:prstDash val="solid"/>
          </a:ln>
          <a:effectLst>
            <a:outerShdw sx="100000" sy="100000" kx="0" ky="0" algn="bl" rotWithShape="0" blurRad="63500" dist="25400" dir="5400000">
              <a:srgbClr val="888888">
                <a:alpha val="20000"/>
              </a:srgbClr>
            </a:outerShdw>
          </a:effectLst>
        </p:spPr>
      </p:sp>
      <p:sp>
        <p:nvSpPr>
          <p:cNvPr id="14" name="Shape 10"/>
          <p:cNvSpPr/>
          <p:nvPr/>
        </p:nvSpPr>
        <p:spPr>
          <a:xfrm>
            <a:off x="7018020" y="1783080"/>
            <a:ext cx="731520" cy="731520"/>
          </a:xfrm>
          <a:prstGeom prst="ellipse">
            <a:avLst/>
          </a:prstGeom>
          <a:solidFill>
            <a:srgbClr val="F0F0F8"/>
          </a:solidFill>
          <a:ln/>
        </p:spPr>
      </p:sp>
      <p:pic>
        <p:nvPicPr>
          <p:cNvPr id="15" name="Image 2" descr="/home/claude/ppt/icons/clock_navy.png">    </p:cNvPr>
          <p:cNvPicPr>
            <a:picLocks noChangeAspect="1"/>
          </p:cNvPicPr>
          <p:nvPr/>
        </p:nvPicPr>
        <p:blipFill>
          <a:blip r:embed="rId3"/>
          <a:stretch>
            <a:fillRect/>
          </a:stretch>
        </p:blipFill>
        <p:spPr>
          <a:xfrm>
            <a:off x="7155180" y="1920240"/>
            <a:ext cx="457200" cy="457200"/>
          </a:xfrm>
          <a:prstGeom prst="rect">
            <a:avLst/>
          </a:prstGeom>
        </p:spPr>
      </p:pic>
      <p:sp>
        <p:nvSpPr>
          <p:cNvPr id="16" name="Text 11"/>
          <p:cNvSpPr/>
          <p:nvPr/>
        </p:nvSpPr>
        <p:spPr>
          <a:xfrm>
            <a:off x="6263640" y="2651760"/>
            <a:ext cx="2240280" cy="365760"/>
          </a:xfrm>
          <a:prstGeom prst="rect">
            <a:avLst/>
          </a:prstGeom>
          <a:noFill/>
          <a:ln/>
        </p:spPr>
        <p:txBody>
          <a:bodyPr wrap="square" lIns="0" tIns="0" rIns="0" bIns="0" rtlCol="0" anchor="ctr"/>
          <a:lstStyle/>
          <a:p>
            <a:pPr algn="ctr" indent="0" marL="0">
              <a:buNone/>
            </a:pPr>
            <a:r>
              <a:rPr lang="en-US" sz="1350" b="1" dirty="0">
                <a:solidFill>
                  <a:srgbClr val="2F3C7E"/>
                </a:solidFill>
                <a:latin typeface="Calibri" pitchFamily="34" charset="0"/>
                <a:ea typeface="Calibri" pitchFamily="34" charset="-122"/>
                <a:cs typeface="Calibri" pitchFamily="34" charset="-120"/>
              </a:rPr>
              <a:t>Duration</a:t>
            </a:r>
            <a:endParaRPr lang="en-US" sz="1350" dirty="0"/>
          </a:p>
        </p:txBody>
      </p:sp>
      <p:sp>
        <p:nvSpPr>
          <p:cNvPr id="17" name="Text 12"/>
          <p:cNvSpPr/>
          <p:nvPr/>
        </p:nvSpPr>
        <p:spPr>
          <a:xfrm>
            <a:off x="6309360" y="3063240"/>
            <a:ext cx="2148840" cy="731520"/>
          </a:xfrm>
          <a:prstGeom prst="rect">
            <a:avLst/>
          </a:prstGeom>
          <a:noFill/>
          <a:ln/>
        </p:spPr>
        <p:txBody>
          <a:bodyPr wrap="square" lIns="0" tIns="0" rIns="0" bIns="0" rtlCol="0" anchor="ctr"/>
          <a:lstStyle/>
          <a:p>
            <a:pPr algn="ctr" indent="0" marL="0">
              <a:buNone/>
            </a:pPr>
            <a:r>
              <a:rPr lang="en-US" sz="1050" dirty="0">
                <a:solidFill>
                  <a:srgbClr val="6B6B6B"/>
                </a:solidFill>
                <a:latin typeface="Calibri" pitchFamily="34" charset="0"/>
                <a:ea typeface="Calibri" pitchFamily="34" charset="-122"/>
                <a:cs typeface="Calibri" pitchFamily="34" charset="-120"/>
              </a:rPr>
              <a:t>Survey conducted over 1 week among peers and juniors</a:t>
            </a:r>
            <a:endParaRPr lang="en-US" sz="1050" dirty="0"/>
          </a:p>
        </p:txBody>
      </p:sp>
      <p:sp>
        <p:nvSpPr>
          <p:cNvPr id="18" name="Shape 13"/>
          <p:cNvSpPr/>
          <p:nvPr/>
        </p:nvSpPr>
        <p:spPr>
          <a:xfrm>
            <a:off x="8915400" y="1554480"/>
            <a:ext cx="2514600" cy="2286000"/>
          </a:xfrm>
          <a:prstGeom prst="roundRect">
            <a:avLst>
              <a:gd name="adj" fmla="val 4800"/>
            </a:avLst>
          </a:prstGeom>
          <a:solidFill>
            <a:srgbClr val="FFFFFF"/>
          </a:solidFill>
          <a:ln w="12700">
            <a:solidFill>
              <a:srgbClr val="DDDDDD"/>
            </a:solidFill>
            <a:prstDash val="solid"/>
          </a:ln>
          <a:effectLst>
            <a:outerShdw sx="100000" sy="100000" kx="0" ky="0" algn="bl" rotWithShape="0" blurRad="63500" dist="25400" dir="5400000">
              <a:srgbClr val="888888">
                <a:alpha val="20000"/>
              </a:srgbClr>
            </a:outerShdw>
          </a:effectLst>
        </p:spPr>
      </p:sp>
      <p:sp>
        <p:nvSpPr>
          <p:cNvPr id="19" name="Shape 14"/>
          <p:cNvSpPr/>
          <p:nvPr/>
        </p:nvSpPr>
        <p:spPr>
          <a:xfrm>
            <a:off x="9806940" y="1783080"/>
            <a:ext cx="731520" cy="731520"/>
          </a:xfrm>
          <a:prstGeom prst="ellipse">
            <a:avLst/>
          </a:prstGeom>
          <a:solidFill>
            <a:srgbClr val="F0F0F8"/>
          </a:solidFill>
          <a:ln/>
        </p:spPr>
      </p:sp>
      <p:pic>
        <p:nvPicPr>
          <p:cNvPr id="20" name="Image 3" descr="/home/claude/ppt/icons/chartbar_navy.png">    </p:cNvPr>
          <p:cNvPicPr>
            <a:picLocks noChangeAspect="1"/>
          </p:cNvPicPr>
          <p:nvPr/>
        </p:nvPicPr>
        <p:blipFill>
          <a:blip r:embed="rId4"/>
          <a:stretch>
            <a:fillRect/>
          </a:stretch>
        </p:blipFill>
        <p:spPr>
          <a:xfrm>
            <a:off x="9944100" y="1920240"/>
            <a:ext cx="457200" cy="457200"/>
          </a:xfrm>
          <a:prstGeom prst="rect">
            <a:avLst/>
          </a:prstGeom>
        </p:spPr>
      </p:pic>
      <p:sp>
        <p:nvSpPr>
          <p:cNvPr id="21" name="Text 15"/>
          <p:cNvSpPr/>
          <p:nvPr/>
        </p:nvSpPr>
        <p:spPr>
          <a:xfrm>
            <a:off x="9052560" y="2651760"/>
            <a:ext cx="2240280" cy="365760"/>
          </a:xfrm>
          <a:prstGeom prst="rect">
            <a:avLst/>
          </a:prstGeom>
          <a:noFill/>
          <a:ln/>
        </p:spPr>
        <p:txBody>
          <a:bodyPr wrap="square" lIns="0" tIns="0" rIns="0" bIns="0" rtlCol="0" anchor="ctr"/>
          <a:lstStyle/>
          <a:p>
            <a:pPr algn="ctr" indent="0" marL="0">
              <a:buNone/>
            </a:pPr>
            <a:r>
              <a:rPr lang="en-US" sz="1350" b="1" dirty="0">
                <a:solidFill>
                  <a:srgbClr val="2F3C7E"/>
                </a:solidFill>
                <a:latin typeface="Calibri" pitchFamily="34" charset="0"/>
                <a:ea typeface="Calibri" pitchFamily="34" charset="-122"/>
                <a:cs typeface="Calibri" pitchFamily="34" charset="-120"/>
              </a:rPr>
              <a:t>Focus Areas</a:t>
            </a:r>
            <a:endParaRPr lang="en-US" sz="1350" dirty="0"/>
          </a:p>
        </p:txBody>
      </p:sp>
      <p:sp>
        <p:nvSpPr>
          <p:cNvPr id="22" name="Text 16"/>
          <p:cNvSpPr/>
          <p:nvPr/>
        </p:nvSpPr>
        <p:spPr>
          <a:xfrm>
            <a:off x="9098280" y="3063240"/>
            <a:ext cx="2148840" cy="731520"/>
          </a:xfrm>
          <a:prstGeom prst="rect">
            <a:avLst/>
          </a:prstGeom>
          <a:noFill/>
          <a:ln/>
        </p:spPr>
        <p:txBody>
          <a:bodyPr wrap="square" lIns="0" tIns="0" rIns="0" bIns="0" rtlCol="0" anchor="ctr"/>
          <a:lstStyle/>
          <a:p>
            <a:pPr algn="ctr" indent="0" marL="0">
              <a:buNone/>
            </a:pPr>
            <a:r>
              <a:rPr lang="en-US" sz="1050" dirty="0">
                <a:solidFill>
                  <a:srgbClr val="6B6B6B"/>
                </a:solidFill>
                <a:latin typeface="Calibri" pitchFamily="34" charset="0"/>
                <a:ea typeface="Calibri" pitchFamily="34" charset="-122"/>
                <a:cs typeface="Calibri" pitchFamily="34" charset="-120"/>
              </a:rPr>
              <a:t>Preference, time spent, and perceived benefits of each game type</a:t>
            </a:r>
            <a:endParaRPr lang="en-US" sz="1050" dirty="0"/>
          </a:p>
        </p:txBody>
      </p:sp>
      <p:sp>
        <p:nvSpPr>
          <p:cNvPr id="23" name="Shape 17"/>
          <p:cNvSpPr/>
          <p:nvPr/>
        </p:nvSpPr>
        <p:spPr>
          <a:xfrm>
            <a:off x="548640" y="4160520"/>
            <a:ext cx="11064240" cy="1737360"/>
          </a:xfrm>
          <a:prstGeom prst="roundRect">
            <a:avLst>
              <a:gd name="adj" fmla="val 6316"/>
            </a:avLst>
          </a:prstGeom>
          <a:solidFill>
            <a:srgbClr val="2F3C7E"/>
          </a:solidFill>
          <a:ln/>
        </p:spPr>
      </p:sp>
      <p:sp>
        <p:nvSpPr>
          <p:cNvPr id="24" name="Text 18"/>
          <p:cNvSpPr/>
          <p:nvPr/>
        </p:nvSpPr>
        <p:spPr>
          <a:xfrm>
            <a:off x="868680" y="4315968"/>
            <a:ext cx="5486400" cy="365760"/>
          </a:xfrm>
          <a:prstGeom prst="rect">
            <a:avLst/>
          </a:prstGeom>
          <a:noFill/>
          <a:ln/>
        </p:spPr>
        <p:txBody>
          <a:bodyPr wrap="square" lIns="0" tIns="0" rIns="0" bIns="0" rtlCol="0" anchor="ctr"/>
          <a:lstStyle/>
          <a:p>
            <a:pPr indent="0" marL="0">
              <a:buNone/>
            </a:pPr>
            <a:r>
              <a:rPr lang="en-US" sz="1300" b="1" dirty="0">
                <a:solidFill>
                  <a:srgbClr val="F9E795"/>
                </a:solidFill>
                <a:latin typeface="Calibri" pitchFamily="34" charset="0"/>
                <a:ea typeface="Calibri" pitchFamily="34" charset="-122"/>
                <a:cs typeface="Calibri" pitchFamily="34" charset="-120"/>
              </a:rPr>
              <a:t>Sample Questions Asked</a:t>
            </a:r>
            <a:endParaRPr lang="en-US" sz="1300" dirty="0"/>
          </a:p>
        </p:txBody>
      </p:sp>
      <p:sp>
        <p:nvSpPr>
          <p:cNvPr id="25" name="Text 19"/>
          <p:cNvSpPr/>
          <p:nvPr/>
        </p:nvSpPr>
        <p:spPr>
          <a:xfrm>
            <a:off x="868680" y="4709160"/>
            <a:ext cx="10424160" cy="3657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Which type of game do you play more often — traditional or mobile?</a:t>
            </a:r>
            <a:endParaRPr lang="en-US" sz="1150" dirty="0"/>
          </a:p>
        </p:txBody>
      </p:sp>
      <p:sp>
        <p:nvSpPr>
          <p:cNvPr id="26" name="Text 20"/>
          <p:cNvSpPr/>
          <p:nvPr/>
        </p:nvSpPr>
        <p:spPr>
          <a:xfrm>
            <a:off x="868680" y="5093208"/>
            <a:ext cx="10424160" cy="3657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On average, how many hours per day do you spend on mobile games?</a:t>
            </a:r>
            <a:endParaRPr lang="en-US" sz="1150" dirty="0"/>
          </a:p>
        </p:txBody>
      </p:sp>
      <p:sp>
        <p:nvSpPr>
          <p:cNvPr id="27" name="Text 21"/>
          <p:cNvSpPr/>
          <p:nvPr/>
        </p:nvSpPr>
        <p:spPr>
          <a:xfrm>
            <a:off x="868680" y="5477256"/>
            <a:ext cx="10424160" cy="3657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Which type of game do you feel benefits your health/social life more?</a:t>
            </a:r>
            <a:endParaRPr lang="en-US" sz="1150" dirty="0"/>
          </a:p>
        </p:txBody>
      </p:sp>
      <p:sp>
        <p:nvSpPr>
          <p:cNvPr id="28" name="Text 22"/>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29" name="Text 23"/>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Survey / Sample — Findings</a:t>
            </a:r>
            <a:endParaRPr lang="en-US" sz="3200" dirty="0"/>
          </a:p>
        </p:txBody>
      </p:sp>
      <p:sp>
        <p:nvSpPr>
          <p:cNvPr id="3" name="Text 1"/>
          <p:cNvSpPr/>
          <p:nvPr/>
        </p:nvSpPr>
        <p:spPr>
          <a:xfrm>
            <a:off x="548640" y="1234440"/>
            <a:ext cx="5120640" cy="365760"/>
          </a:xfrm>
          <a:prstGeom prst="rect">
            <a:avLst/>
          </a:prstGeom>
          <a:noFill/>
          <a:ln/>
        </p:spPr>
        <p:txBody>
          <a:bodyPr wrap="square" lIns="0" tIns="0" rIns="0" bIns="0" rtlCol="0" anchor="ctr"/>
          <a:lstStyle/>
          <a:p>
            <a:pPr indent="0" marL="0">
              <a:buNone/>
            </a:pPr>
            <a:r>
              <a:rPr lang="en-US" sz="1300" b="1" dirty="0">
                <a:solidFill>
                  <a:srgbClr val="242424"/>
                </a:solidFill>
                <a:latin typeface="Calibri" pitchFamily="34" charset="0"/>
                <a:ea typeface="Calibri" pitchFamily="34" charset="-122"/>
                <a:cs typeface="Calibri" pitchFamily="34" charset="-120"/>
              </a:rPr>
              <a:t>Which do you prefer playing more?</a:t>
            </a:r>
            <a:endParaRPr lang="en-US" sz="1300" dirty="0"/>
          </a:p>
        </p:txBody>
      </p:sp>
      <p:graphicFrame>
        <p:nvGraphicFramePr>
          <p:cNvPr id="4" name="Chart 0" descr=""/>
          <p:cNvGraphicFramePr/>
          <p:nvPr/>
        </p:nvGraphicFramePr>
        <p:xfrm>
          <a:off x="457200" y="1645920"/>
          <a:ext cx="5303520" cy="2926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217920" y="1234440"/>
            <a:ext cx="5486400" cy="365760"/>
          </a:xfrm>
          <a:prstGeom prst="rect">
            <a:avLst/>
          </a:prstGeom>
          <a:noFill/>
          <a:ln/>
        </p:spPr>
        <p:txBody>
          <a:bodyPr wrap="square" lIns="0" tIns="0" rIns="0" bIns="0" rtlCol="0" anchor="ctr"/>
          <a:lstStyle/>
          <a:p>
            <a:pPr indent="0" marL="0">
              <a:buNone/>
            </a:pPr>
            <a:r>
              <a:rPr lang="en-US" sz="1300" b="1" dirty="0">
                <a:solidFill>
                  <a:srgbClr val="242424"/>
                </a:solidFill>
                <a:latin typeface="Calibri" pitchFamily="34" charset="0"/>
                <a:ea typeface="Calibri" pitchFamily="34" charset="-122"/>
                <a:cs typeface="Calibri" pitchFamily="34" charset="-120"/>
              </a:rPr>
              <a:t>Daily time spent on mobile games (hrs)</a:t>
            </a:r>
            <a:endParaRPr lang="en-US" sz="1300" dirty="0"/>
          </a:p>
        </p:txBody>
      </p:sp>
      <p:graphicFrame>
        <p:nvGraphicFramePr>
          <p:cNvPr id="6" name="Chart 1" descr=""/>
          <p:cNvGraphicFramePr/>
          <p:nvPr/>
        </p:nvGraphicFramePr>
        <p:xfrm>
          <a:off x="6126480" y="1645920"/>
          <a:ext cx="548640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48640" y="4800600"/>
            <a:ext cx="11064240" cy="1234440"/>
          </a:xfrm>
          <a:prstGeom prst="roundRect">
            <a:avLst>
              <a:gd name="adj" fmla="val 7407"/>
            </a:avLst>
          </a:prstGeom>
          <a:solidFill>
            <a:srgbClr val="FDEDEE"/>
          </a:solidFill>
          <a:ln w="12700">
            <a:solidFill>
              <a:srgbClr val="F96167"/>
            </a:solidFill>
            <a:prstDash val="solid"/>
          </a:ln>
        </p:spPr>
      </p:sp>
      <p:pic>
        <p:nvPicPr>
          <p:cNvPr id="8" name="Image 0" descr="/home/claude/ppt/icons/lightbulb_gold.png">    </p:cNvPr>
          <p:cNvPicPr>
            <a:picLocks noChangeAspect="1"/>
          </p:cNvPicPr>
          <p:nvPr/>
        </p:nvPicPr>
        <p:blipFill>
          <a:blip r:embed="rId3"/>
          <a:stretch>
            <a:fillRect/>
          </a:stretch>
        </p:blipFill>
        <p:spPr>
          <a:xfrm>
            <a:off x="822960" y="5074920"/>
            <a:ext cx="502920" cy="502920"/>
          </a:xfrm>
          <a:prstGeom prst="rect">
            <a:avLst/>
          </a:prstGeom>
        </p:spPr>
      </p:pic>
      <p:sp>
        <p:nvSpPr>
          <p:cNvPr id="9" name="Text 4"/>
          <p:cNvSpPr/>
          <p:nvPr/>
        </p:nvSpPr>
        <p:spPr>
          <a:xfrm>
            <a:off x="1508760" y="4937760"/>
            <a:ext cx="9784080" cy="960120"/>
          </a:xfrm>
          <a:prstGeom prst="rect">
            <a:avLst/>
          </a:prstGeom>
          <a:noFill/>
          <a:ln/>
        </p:spPr>
        <p:txBody>
          <a:bodyPr wrap="square" lIns="0" tIns="0" rIns="0" bIns="0" rtlCol="0" anchor="ctr"/>
          <a:lstStyle/>
          <a:p>
            <a:pPr indent="0" marL="0">
              <a:buNone/>
            </a:pPr>
            <a:r>
              <a:rPr lang="en-US" sz="1150" i="1" dirty="0">
                <a:solidFill>
                  <a:srgbClr val="242424"/>
                </a:solidFill>
                <a:latin typeface="Calibri" pitchFamily="34" charset="0"/>
                <a:ea typeface="Calibri" pitchFamily="34" charset="-122"/>
                <a:cs typeface="Calibri" pitchFamily="34" charset="-120"/>
              </a:rPr>
              <a:t>Key takeaway: A majority (62%) favour mobile games and over half of respondents spend 2+ hours daily on them — yet most still recall traditional games fondly and associate them with better health and social bonding.</a:t>
            </a:r>
            <a:endParaRPr lang="en-US" sz="1150" dirty="0"/>
          </a:p>
        </p:txBody>
      </p:sp>
      <p:sp>
        <p:nvSpPr>
          <p:cNvPr id="10" name="Text 5"/>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11" name="Text 6"/>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F3C7E"/>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48640" y="1508760"/>
            <a:ext cx="11064240" cy="868680"/>
          </a:xfrm>
          <a:prstGeom prst="roundRect">
            <a:avLst>
              <a:gd name="adj" fmla="val 10526"/>
            </a:avLst>
          </a:prstGeom>
          <a:solidFill>
            <a:srgbClr val="FFFFFF">
              <a:alpha val="8000"/>
            </a:srgbClr>
          </a:solidFill>
          <a:ln/>
        </p:spPr>
      </p:sp>
      <p:sp>
        <p:nvSpPr>
          <p:cNvPr id="4" name="Shape 2"/>
          <p:cNvSpPr/>
          <p:nvPr/>
        </p:nvSpPr>
        <p:spPr>
          <a:xfrm>
            <a:off x="777240" y="1709928"/>
            <a:ext cx="457200" cy="457200"/>
          </a:xfrm>
          <a:prstGeom prst="ellipse">
            <a:avLst/>
          </a:prstGeom>
          <a:solidFill>
            <a:srgbClr val="F9E795"/>
          </a:solidFill>
          <a:ln/>
        </p:spPr>
      </p:sp>
      <p:pic>
        <p:nvPicPr>
          <p:cNvPr id="5" name="Image 0" descr="/home/claude/ppt/icons/check_navy.png">    </p:cNvPr>
          <p:cNvPicPr>
            <a:picLocks noChangeAspect="1"/>
          </p:cNvPicPr>
          <p:nvPr/>
        </p:nvPicPr>
        <p:blipFill>
          <a:blip r:embed="rId1"/>
          <a:stretch>
            <a:fillRect/>
          </a:stretch>
        </p:blipFill>
        <p:spPr>
          <a:xfrm>
            <a:off x="896112" y="1828800"/>
            <a:ext cx="228600" cy="228600"/>
          </a:xfrm>
          <a:prstGeom prst="rect">
            <a:avLst/>
          </a:prstGeom>
        </p:spPr>
      </p:pic>
      <p:sp>
        <p:nvSpPr>
          <p:cNvPr id="6" name="Text 3"/>
          <p:cNvSpPr/>
          <p:nvPr/>
        </p:nvSpPr>
        <p:spPr>
          <a:xfrm>
            <a:off x="1463040" y="1554480"/>
            <a:ext cx="987552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Traditional games remain unmatched for physical fitness, real-world social bonding and cultural continuity.</a:t>
            </a:r>
            <a:endParaRPr lang="en-US" sz="1300" dirty="0"/>
          </a:p>
        </p:txBody>
      </p:sp>
      <p:sp>
        <p:nvSpPr>
          <p:cNvPr id="7" name="Shape 4"/>
          <p:cNvSpPr/>
          <p:nvPr/>
        </p:nvSpPr>
        <p:spPr>
          <a:xfrm>
            <a:off x="548640" y="2560320"/>
            <a:ext cx="11064240" cy="868680"/>
          </a:xfrm>
          <a:prstGeom prst="roundRect">
            <a:avLst>
              <a:gd name="adj" fmla="val 10526"/>
            </a:avLst>
          </a:prstGeom>
          <a:solidFill>
            <a:srgbClr val="FFFFFF">
              <a:alpha val="8000"/>
            </a:srgbClr>
          </a:solidFill>
          <a:ln/>
        </p:spPr>
      </p:sp>
      <p:sp>
        <p:nvSpPr>
          <p:cNvPr id="8" name="Shape 5"/>
          <p:cNvSpPr/>
          <p:nvPr/>
        </p:nvSpPr>
        <p:spPr>
          <a:xfrm>
            <a:off x="777240" y="2761488"/>
            <a:ext cx="457200" cy="457200"/>
          </a:xfrm>
          <a:prstGeom prst="ellipse">
            <a:avLst/>
          </a:prstGeom>
          <a:solidFill>
            <a:srgbClr val="F9E795"/>
          </a:solidFill>
          <a:ln/>
        </p:spPr>
      </p:sp>
      <p:pic>
        <p:nvPicPr>
          <p:cNvPr id="9" name="Image 1" descr="/home/claude/ppt/icons/check_navy.png">    </p:cNvPr>
          <p:cNvPicPr>
            <a:picLocks noChangeAspect="1"/>
          </p:cNvPicPr>
          <p:nvPr/>
        </p:nvPicPr>
        <p:blipFill>
          <a:blip r:embed="rId2"/>
          <a:stretch>
            <a:fillRect/>
          </a:stretch>
        </p:blipFill>
        <p:spPr>
          <a:xfrm>
            <a:off x="896112" y="2880360"/>
            <a:ext cx="228600" cy="228600"/>
          </a:xfrm>
          <a:prstGeom prst="rect">
            <a:avLst/>
          </a:prstGeom>
        </p:spPr>
      </p:pic>
      <p:sp>
        <p:nvSpPr>
          <p:cNvPr id="10" name="Text 6"/>
          <p:cNvSpPr/>
          <p:nvPr/>
        </p:nvSpPr>
        <p:spPr>
          <a:xfrm>
            <a:off x="1463040" y="2606040"/>
            <a:ext cx="987552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Mobile games offer accessibility, cognitive engagement and entertainment, but risk sedentary habits and overuse.</a:t>
            </a:r>
            <a:endParaRPr lang="en-US" sz="1300" dirty="0"/>
          </a:p>
        </p:txBody>
      </p:sp>
      <p:sp>
        <p:nvSpPr>
          <p:cNvPr id="11" name="Shape 7"/>
          <p:cNvSpPr/>
          <p:nvPr/>
        </p:nvSpPr>
        <p:spPr>
          <a:xfrm>
            <a:off x="548640" y="3611880"/>
            <a:ext cx="11064240" cy="868680"/>
          </a:xfrm>
          <a:prstGeom prst="roundRect">
            <a:avLst>
              <a:gd name="adj" fmla="val 10526"/>
            </a:avLst>
          </a:prstGeom>
          <a:solidFill>
            <a:srgbClr val="FFFFFF">
              <a:alpha val="8000"/>
            </a:srgbClr>
          </a:solidFill>
          <a:ln/>
        </p:spPr>
      </p:sp>
      <p:sp>
        <p:nvSpPr>
          <p:cNvPr id="12" name="Shape 8"/>
          <p:cNvSpPr/>
          <p:nvPr/>
        </p:nvSpPr>
        <p:spPr>
          <a:xfrm>
            <a:off x="777240" y="3813048"/>
            <a:ext cx="457200" cy="457200"/>
          </a:xfrm>
          <a:prstGeom prst="ellipse">
            <a:avLst/>
          </a:prstGeom>
          <a:solidFill>
            <a:srgbClr val="F9E795"/>
          </a:solidFill>
          <a:ln/>
        </p:spPr>
      </p:sp>
      <p:pic>
        <p:nvPicPr>
          <p:cNvPr id="13" name="Image 2" descr="/home/claude/ppt/icons/check_navy.png">    </p:cNvPr>
          <p:cNvPicPr>
            <a:picLocks noChangeAspect="1"/>
          </p:cNvPicPr>
          <p:nvPr/>
        </p:nvPicPr>
        <p:blipFill>
          <a:blip r:embed="rId3"/>
          <a:stretch>
            <a:fillRect/>
          </a:stretch>
        </p:blipFill>
        <p:spPr>
          <a:xfrm>
            <a:off x="896112" y="3931920"/>
            <a:ext cx="228600" cy="228600"/>
          </a:xfrm>
          <a:prstGeom prst="rect">
            <a:avLst/>
          </a:prstGeom>
        </p:spPr>
      </p:pic>
      <p:sp>
        <p:nvSpPr>
          <p:cNvPr id="14" name="Text 9"/>
          <p:cNvSpPr/>
          <p:nvPr/>
        </p:nvSpPr>
        <p:spPr>
          <a:xfrm>
            <a:off x="1463040" y="3657600"/>
            <a:ext cx="987552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balanced approach — encouraging outdoor play alongside mindful mobile gaming — offers the best of both worlds.</a:t>
            </a:r>
            <a:endParaRPr lang="en-US" sz="1300" dirty="0"/>
          </a:p>
        </p:txBody>
      </p:sp>
      <p:sp>
        <p:nvSpPr>
          <p:cNvPr id="15" name="Shape 10"/>
          <p:cNvSpPr/>
          <p:nvPr/>
        </p:nvSpPr>
        <p:spPr>
          <a:xfrm>
            <a:off x="548640" y="4663440"/>
            <a:ext cx="11064240" cy="868680"/>
          </a:xfrm>
          <a:prstGeom prst="roundRect">
            <a:avLst>
              <a:gd name="adj" fmla="val 10526"/>
            </a:avLst>
          </a:prstGeom>
          <a:solidFill>
            <a:srgbClr val="FFFFFF">
              <a:alpha val="8000"/>
            </a:srgbClr>
          </a:solidFill>
          <a:ln/>
        </p:spPr>
      </p:sp>
      <p:sp>
        <p:nvSpPr>
          <p:cNvPr id="16" name="Shape 11"/>
          <p:cNvSpPr/>
          <p:nvPr/>
        </p:nvSpPr>
        <p:spPr>
          <a:xfrm>
            <a:off x="777240" y="4864608"/>
            <a:ext cx="457200" cy="457200"/>
          </a:xfrm>
          <a:prstGeom prst="ellipse">
            <a:avLst/>
          </a:prstGeom>
          <a:solidFill>
            <a:srgbClr val="F9E795"/>
          </a:solidFill>
          <a:ln/>
        </p:spPr>
      </p:sp>
      <p:pic>
        <p:nvPicPr>
          <p:cNvPr id="17" name="Image 3" descr="/home/claude/ppt/icons/check_navy.png">    </p:cNvPr>
          <p:cNvPicPr>
            <a:picLocks noChangeAspect="1"/>
          </p:cNvPicPr>
          <p:nvPr/>
        </p:nvPicPr>
        <p:blipFill>
          <a:blip r:embed="rId4"/>
          <a:stretch>
            <a:fillRect/>
          </a:stretch>
        </p:blipFill>
        <p:spPr>
          <a:xfrm>
            <a:off x="896112" y="4983480"/>
            <a:ext cx="228600" cy="228600"/>
          </a:xfrm>
          <a:prstGeom prst="rect">
            <a:avLst/>
          </a:prstGeom>
        </p:spPr>
      </p:pic>
      <p:sp>
        <p:nvSpPr>
          <p:cNvPr id="18" name="Text 12"/>
          <p:cNvSpPr/>
          <p:nvPr/>
        </p:nvSpPr>
        <p:spPr>
          <a:xfrm>
            <a:off x="1463040" y="4709160"/>
            <a:ext cx="987552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Schools and families should consciously make space for traditional games to preserve heritage and health.</a:t>
            </a:r>
            <a:endParaRPr lang="en-US" sz="1300" dirty="0"/>
          </a:p>
        </p:txBody>
      </p:sp>
      <p:sp>
        <p:nvSpPr>
          <p:cNvPr id="19" name="Text 13"/>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B7BEDE"/>
                </a:solidFill>
                <a:latin typeface="Calibri" pitchFamily="34" charset="0"/>
                <a:ea typeface="Calibri" pitchFamily="34" charset="-122"/>
                <a:cs typeface="Calibri" pitchFamily="34" charset="-120"/>
              </a:rPr>
              <a:t>Traditional Games vs. Mobile Games</a:t>
            </a:r>
            <a:endParaRPr lang="en-US" sz="900" dirty="0"/>
          </a:p>
        </p:txBody>
      </p:sp>
      <p:sp>
        <p:nvSpPr>
          <p:cNvPr id="20" name="Text 14"/>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7BED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BF2"/>
        </a:solidFill>
      </p:bgPr>
    </p:bg>
    <p:spTree>
      <p:nvGrpSpPr>
        <p:cNvPr id="1" name=""/>
        <p:cNvGrpSpPr/>
        <p:nvPr/>
      </p:nvGrpSpPr>
      <p:grpSpPr>
        <a:xfrm>
          <a:off x="0" y="0"/>
          <a:ext cx="0" cy="0"/>
          <a:chOff x="0" y="0"/>
          <a:chExt cx="0" cy="0"/>
        </a:xfrm>
      </p:grpSpPr>
      <p:sp>
        <p:nvSpPr>
          <p:cNvPr id="2" name="Text 0"/>
          <p:cNvSpPr/>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Bibliography</a:t>
            </a:r>
            <a:endParaRPr lang="en-US" sz="3200" dirty="0"/>
          </a:p>
        </p:txBody>
      </p:sp>
      <p:pic>
        <p:nvPicPr>
          <p:cNvPr id="3" name="Image 0" descr="/home/claude/ppt/icons/book_navy.png">    </p:cNvPr>
          <p:cNvPicPr>
            <a:picLocks noChangeAspect="1"/>
          </p:cNvPicPr>
          <p:nvPr/>
        </p:nvPicPr>
        <p:blipFill>
          <a:blip r:embed="rId1"/>
          <a:stretch>
            <a:fillRect/>
          </a:stretch>
        </p:blipFill>
        <p:spPr>
          <a:xfrm>
            <a:off x="10241280" y="502920"/>
            <a:ext cx="640080" cy="640080"/>
          </a:xfrm>
          <a:prstGeom prst="rect">
            <a:avLst/>
          </a:prstGeom>
        </p:spPr>
      </p:pic>
      <p:sp>
        <p:nvSpPr>
          <p:cNvPr id="4" name="Shape 1"/>
          <p:cNvSpPr/>
          <p:nvPr/>
        </p:nvSpPr>
        <p:spPr>
          <a:xfrm>
            <a:off x="548640" y="1472184"/>
            <a:ext cx="274320" cy="274320"/>
          </a:xfrm>
          <a:prstGeom prst="ellipse">
            <a:avLst/>
          </a:prstGeom>
          <a:solidFill>
            <a:srgbClr val="F96167"/>
          </a:solidFill>
          <a:ln/>
        </p:spPr>
      </p:sp>
      <p:sp>
        <p:nvSpPr>
          <p:cNvPr id="5" name="Text 2"/>
          <p:cNvSpPr/>
          <p:nvPr/>
        </p:nvSpPr>
        <p:spPr>
          <a:xfrm>
            <a:off x="548640" y="14721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Text 3"/>
          <p:cNvSpPr/>
          <p:nvPr/>
        </p:nvSpPr>
        <p:spPr>
          <a:xfrm>
            <a:off x="960120" y="1417320"/>
            <a:ext cx="10424160" cy="685800"/>
          </a:xfrm>
          <a:prstGeom prst="rect">
            <a:avLst/>
          </a:prstGeom>
          <a:noFill/>
          <a:ln/>
        </p:spPr>
        <p:txBody>
          <a:bodyPr wrap="square" lIns="0" tIns="0" rIns="0" bIns="0" rtlCol="0" anchor="ctr"/>
          <a:lstStyle/>
          <a:p>
            <a:pPr indent="0" marL="0">
              <a:buNone/>
            </a:pPr>
            <a:r>
              <a:rPr lang="en-US" sz="1150" dirty="0">
                <a:solidFill>
                  <a:srgbClr val="242424"/>
                </a:solidFill>
                <a:latin typeface="Calibri" pitchFamily="34" charset="0"/>
                <a:ea typeface="Calibri" pitchFamily="34" charset="-122"/>
                <a:cs typeface="Calibri" pitchFamily="34" charset="-120"/>
              </a:rPr>
              <a:t>Sutton-Smith, B. (2001). The Ambiguity of Play. Harvard University Press.</a:t>
            </a:r>
            <a:endParaRPr lang="en-US" sz="1150" dirty="0"/>
          </a:p>
        </p:txBody>
      </p:sp>
      <p:sp>
        <p:nvSpPr>
          <p:cNvPr id="7" name="Shape 4"/>
          <p:cNvSpPr/>
          <p:nvPr/>
        </p:nvSpPr>
        <p:spPr>
          <a:xfrm>
            <a:off x="548640" y="2249424"/>
            <a:ext cx="274320" cy="274320"/>
          </a:xfrm>
          <a:prstGeom prst="ellipse">
            <a:avLst/>
          </a:prstGeom>
          <a:solidFill>
            <a:srgbClr val="2F3C7E"/>
          </a:solidFill>
          <a:ln/>
        </p:spPr>
      </p:sp>
      <p:sp>
        <p:nvSpPr>
          <p:cNvPr id="8" name="Text 5"/>
          <p:cNvSpPr/>
          <p:nvPr/>
        </p:nvSpPr>
        <p:spPr>
          <a:xfrm>
            <a:off x="548640" y="22494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6"/>
          <p:cNvSpPr/>
          <p:nvPr/>
        </p:nvSpPr>
        <p:spPr>
          <a:xfrm>
            <a:off x="960120" y="2194560"/>
            <a:ext cx="10424160" cy="685800"/>
          </a:xfrm>
          <a:prstGeom prst="rect">
            <a:avLst/>
          </a:prstGeom>
          <a:noFill/>
          <a:ln/>
        </p:spPr>
        <p:txBody>
          <a:bodyPr wrap="square" lIns="0" tIns="0" rIns="0" bIns="0" rtlCol="0" anchor="ctr"/>
          <a:lstStyle/>
          <a:p>
            <a:pPr indent="0" marL="0">
              <a:buNone/>
            </a:pPr>
            <a:r>
              <a:rPr lang="en-US" sz="1150" dirty="0">
                <a:solidFill>
                  <a:srgbClr val="242424"/>
                </a:solidFill>
                <a:latin typeface="Calibri" pitchFamily="34" charset="0"/>
                <a:ea typeface="Calibri" pitchFamily="34" charset="-122"/>
                <a:cs typeface="Calibri" pitchFamily="34" charset="-120"/>
              </a:rPr>
              <a:t>Przybylski, A. K., et al. (2017). "Internet Gaming Disorder: Investigating the Clinical Relevance of a New Phenomenon." American Journal of Psychiatry.</a:t>
            </a:r>
            <a:endParaRPr lang="en-US" sz="1150" dirty="0"/>
          </a:p>
        </p:txBody>
      </p:sp>
      <p:sp>
        <p:nvSpPr>
          <p:cNvPr id="10" name="Shape 7"/>
          <p:cNvSpPr/>
          <p:nvPr/>
        </p:nvSpPr>
        <p:spPr>
          <a:xfrm>
            <a:off x="548640" y="3026664"/>
            <a:ext cx="274320" cy="274320"/>
          </a:xfrm>
          <a:prstGeom prst="ellipse">
            <a:avLst/>
          </a:prstGeom>
          <a:solidFill>
            <a:srgbClr val="F96167"/>
          </a:solidFill>
          <a:ln/>
        </p:spPr>
      </p:sp>
      <p:sp>
        <p:nvSpPr>
          <p:cNvPr id="11" name="Text 8"/>
          <p:cNvSpPr/>
          <p:nvPr/>
        </p:nvSpPr>
        <p:spPr>
          <a:xfrm>
            <a:off x="548640" y="30266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2" name="Text 9"/>
          <p:cNvSpPr/>
          <p:nvPr/>
        </p:nvSpPr>
        <p:spPr>
          <a:xfrm>
            <a:off x="960120" y="2971800"/>
            <a:ext cx="10424160" cy="685800"/>
          </a:xfrm>
          <a:prstGeom prst="rect">
            <a:avLst/>
          </a:prstGeom>
          <a:noFill/>
          <a:ln/>
        </p:spPr>
        <p:txBody>
          <a:bodyPr wrap="square" lIns="0" tIns="0" rIns="0" bIns="0" rtlCol="0" anchor="ctr"/>
          <a:lstStyle/>
          <a:p>
            <a:pPr indent="0" marL="0">
              <a:buNone/>
            </a:pPr>
            <a:r>
              <a:rPr lang="en-US" sz="1150" dirty="0">
                <a:solidFill>
                  <a:srgbClr val="242424"/>
                </a:solidFill>
                <a:latin typeface="Calibri" pitchFamily="34" charset="0"/>
                <a:ea typeface="Calibri" pitchFamily="34" charset="-122"/>
                <a:cs typeface="Calibri" pitchFamily="34" charset="-120"/>
              </a:rPr>
              <a:t>Granic, I., Lobel, A., &amp; Engels, R. (2014). "The Benefits of Playing Video Games." American Psychologist, 69(1), 66-78.</a:t>
            </a:r>
            <a:endParaRPr lang="en-US" sz="1150" dirty="0"/>
          </a:p>
        </p:txBody>
      </p:sp>
      <p:sp>
        <p:nvSpPr>
          <p:cNvPr id="13" name="Shape 10"/>
          <p:cNvSpPr/>
          <p:nvPr/>
        </p:nvSpPr>
        <p:spPr>
          <a:xfrm>
            <a:off x="548640" y="3803904"/>
            <a:ext cx="274320" cy="274320"/>
          </a:xfrm>
          <a:prstGeom prst="ellipse">
            <a:avLst/>
          </a:prstGeom>
          <a:solidFill>
            <a:srgbClr val="2F3C7E"/>
          </a:solidFill>
          <a:ln/>
        </p:spPr>
      </p:sp>
      <p:sp>
        <p:nvSpPr>
          <p:cNvPr id="14" name="Text 11"/>
          <p:cNvSpPr/>
          <p:nvPr/>
        </p:nvSpPr>
        <p:spPr>
          <a:xfrm>
            <a:off x="548640" y="38039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5" name="Text 12"/>
          <p:cNvSpPr/>
          <p:nvPr/>
        </p:nvSpPr>
        <p:spPr>
          <a:xfrm>
            <a:off x="960120" y="3749040"/>
            <a:ext cx="10424160" cy="685800"/>
          </a:xfrm>
          <a:prstGeom prst="rect">
            <a:avLst/>
          </a:prstGeom>
          <a:noFill/>
          <a:ln/>
        </p:spPr>
        <p:txBody>
          <a:bodyPr wrap="square" lIns="0" tIns="0" rIns="0" bIns="0" rtlCol="0" anchor="ctr"/>
          <a:lstStyle/>
          <a:p>
            <a:pPr indent="0" marL="0">
              <a:buNone/>
            </a:pPr>
            <a:r>
              <a:rPr lang="en-US" sz="1150" dirty="0">
                <a:solidFill>
                  <a:srgbClr val="242424"/>
                </a:solidFill>
                <a:latin typeface="Calibri" pitchFamily="34" charset="0"/>
                <a:ea typeface="Calibri" pitchFamily="34" charset="-122"/>
                <a:cs typeface="Calibri" pitchFamily="34" charset="-120"/>
              </a:rPr>
              <a:t>Ministry of Youth Affairs &amp; Sports, Govt. of India — Khelo India Programme documentation on traditional Indian sports.</a:t>
            </a:r>
            <a:endParaRPr lang="en-US" sz="1150" dirty="0"/>
          </a:p>
        </p:txBody>
      </p:sp>
      <p:sp>
        <p:nvSpPr>
          <p:cNvPr id="16" name="Shape 13"/>
          <p:cNvSpPr/>
          <p:nvPr/>
        </p:nvSpPr>
        <p:spPr>
          <a:xfrm>
            <a:off x="548640" y="4581144"/>
            <a:ext cx="274320" cy="274320"/>
          </a:xfrm>
          <a:prstGeom prst="ellipse">
            <a:avLst/>
          </a:prstGeom>
          <a:solidFill>
            <a:srgbClr val="F96167"/>
          </a:solidFill>
          <a:ln/>
        </p:spPr>
      </p:sp>
      <p:sp>
        <p:nvSpPr>
          <p:cNvPr id="17" name="Text 14"/>
          <p:cNvSpPr/>
          <p:nvPr/>
        </p:nvSpPr>
        <p:spPr>
          <a:xfrm>
            <a:off x="548640" y="45811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8" name="Text 15"/>
          <p:cNvSpPr/>
          <p:nvPr/>
        </p:nvSpPr>
        <p:spPr>
          <a:xfrm>
            <a:off x="960120" y="4526280"/>
            <a:ext cx="10424160" cy="685800"/>
          </a:xfrm>
          <a:prstGeom prst="rect">
            <a:avLst/>
          </a:prstGeom>
          <a:noFill/>
          <a:ln/>
        </p:spPr>
        <p:txBody>
          <a:bodyPr wrap="square" lIns="0" tIns="0" rIns="0" bIns="0" rtlCol="0" anchor="ctr"/>
          <a:lstStyle/>
          <a:p>
            <a:pPr indent="0" marL="0">
              <a:buNone/>
            </a:pPr>
            <a:r>
              <a:rPr lang="en-US" sz="1150" dirty="0">
                <a:solidFill>
                  <a:srgbClr val="242424"/>
                </a:solidFill>
                <a:latin typeface="Calibri" pitchFamily="34" charset="0"/>
                <a:ea typeface="Calibri" pitchFamily="34" charset="-122"/>
                <a:cs typeface="Calibri" pitchFamily="34" charset="-120"/>
              </a:rPr>
              <a:t>We Are Social &amp; Hootsuite (2024). Digital India Report — Mobile gaming and internet usage statistics.</a:t>
            </a:r>
            <a:endParaRPr lang="en-US" sz="1150" dirty="0"/>
          </a:p>
        </p:txBody>
      </p:sp>
      <p:sp>
        <p:nvSpPr>
          <p:cNvPr id="19" name="Shape 16"/>
          <p:cNvSpPr/>
          <p:nvPr/>
        </p:nvSpPr>
        <p:spPr>
          <a:xfrm>
            <a:off x="548640" y="5358384"/>
            <a:ext cx="274320" cy="274320"/>
          </a:xfrm>
          <a:prstGeom prst="ellipse">
            <a:avLst/>
          </a:prstGeom>
          <a:solidFill>
            <a:srgbClr val="2F3C7E"/>
          </a:solidFill>
          <a:ln/>
        </p:spPr>
      </p:sp>
      <p:sp>
        <p:nvSpPr>
          <p:cNvPr id="20" name="Text 17"/>
          <p:cNvSpPr/>
          <p:nvPr/>
        </p:nvSpPr>
        <p:spPr>
          <a:xfrm>
            <a:off x="548640" y="53583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1" name="Text 18"/>
          <p:cNvSpPr/>
          <p:nvPr/>
        </p:nvSpPr>
        <p:spPr>
          <a:xfrm>
            <a:off x="960120" y="5303520"/>
            <a:ext cx="10424160" cy="685800"/>
          </a:xfrm>
          <a:prstGeom prst="rect">
            <a:avLst/>
          </a:prstGeom>
          <a:noFill/>
          <a:ln/>
        </p:spPr>
        <p:txBody>
          <a:bodyPr wrap="square" lIns="0" tIns="0" rIns="0" bIns="0" rtlCol="0" anchor="ctr"/>
          <a:lstStyle/>
          <a:p>
            <a:pPr indent="0" marL="0">
              <a:buNone/>
            </a:pPr>
            <a:r>
              <a:rPr lang="en-US" sz="1150" dirty="0">
                <a:solidFill>
                  <a:srgbClr val="242424"/>
                </a:solidFill>
                <a:latin typeface="Calibri" pitchFamily="34" charset="0"/>
                <a:ea typeface="Calibri" pitchFamily="34" charset="-122"/>
                <a:cs typeface="Calibri" pitchFamily="34" charset="-120"/>
              </a:rPr>
              <a:t>Primary survey conducted by the authors among 60 college students (2026).</a:t>
            </a:r>
            <a:endParaRPr lang="en-US" sz="1150" dirty="0"/>
          </a:p>
        </p:txBody>
      </p:sp>
      <p:sp>
        <p:nvSpPr>
          <p:cNvPr id="22" name="Text 19"/>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Traditional Games vs. Mobile Games</a:t>
            </a:r>
            <a:endParaRPr lang="en-US" sz="900" dirty="0"/>
          </a:p>
        </p:txBody>
      </p:sp>
      <p:sp>
        <p:nvSpPr>
          <p:cNvPr id="23" name="Text 2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8961120" y="-1645920"/>
            <a:ext cx="5029200" cy="5029200"/>
          </a:xfrm>
          <a:prstGeom prst="ellipse">
            <a:avLst/>
          </a:prstGeom>
          <a:solidFill>
            <a:srgbClr val="F96167">
              <a:alpha val="12000"/>
            </a:srgbClr>
          </a:solidFill>
          <a:ln/>
        </p:spPr>
      </p:sp>
      <p:sp>
        <p:nvSpPr>
          <p:cNvPr id="3" name="Shape 1"/>
          <p:cNvSpPr/>
          <p:nvPr/>
        </p:nvSpPr>
        <p:spPr>
          <a:xfrm>
            <a:off x="-1188720" y="5120640"/>
            <a:ext cx="2926080" cy="2926080"/>
          </a:xfrm>
          <a:prstGeom prst="ellipse">
            <a:avLst/>
          </a:prstGeom>
          <a:solidFill>
            <a:srgbClr val="F9E795">
              <a:alpha val="12000"/>
            </a:srgbClr>
          </a:solidFill>
          <a:ln/>
        </p:spPr>
      </p:sp>
      <p:sp>
        <p:nvSpPr>
          <p:cNvPr id="4" name="Shape 2"/>
          <p:cNvSpPr/>
          <p:nvPr/>
        </p:nvSpPr>
        <p:spPr>
          <a:xfrm>
            <a:off x="5367528" y="1051560"/>
            <a:ext cx="1463040" cy="1463040"/>
          </a:xfrm>
          <a:prstGeom prst="ellipse">
            <a:avLst/>
          </a:prstGeom>
          <a:solidFill>
            <a:srgbClr val="FFFFFF">
              <a:alpha val="10000"/>
            </a:srgbClr>
          </a:solidFill>
          <a:ln/>
        </p:spPr>
      </p:sp>
      <p:pic>
        <p:nvPicPr>
          <p:cNvPr id="5" name="Image 0" descr="/home/claude/ppt/icons/handshake_coral.png">    </p:cNvPr>
          <p:cNvPicPr>
            <a:picLocks noChangeAspect="1"/>
          </p:cNvPicPr>
          <p:nvPr/>
        </p:nvPicPr>
        <p:blipFill>
          <a:blip r:embed="rId1"/>
          <a:stretch>
            <a:fillRect/>
          </a:stretch>
        </p:blipFill>
        <p:spPr>
          <a:xfrm>
            <a:off x="5596128" y="1280160"/>
            <a:ext cx="1005840" cy="1005840"/>
          </a:xfrm>
          <a:prstGeom prst="rect">
            <a:avLst/>
          </a:prstGeom>
        </p:spPr>
      </p:pic>
      <p:sp>
        <p:nvSpPr>
          <p:cNvPr id="6" name="Text 3"/>
          <p:cNvSpPr/>
          <p:nvPr/>
        </p:nvSpPr>
        <p:spPr>
          <a:xfrm>
            <a:off x="0" y="2697480"/>
            <a:ext cx="12191695"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Acknowledgment</a:t>
            </a:r>
            <a:endParaRPr lang="en-US" sz="3400" dirty="0"/>
          </a:p>
        </p:txBody>
      </p:sp>
      <p:sp>
        <p:nvSpPr>
          <p:cNvPr id="7" name="Text 4"/>
          <p:cNvSpPr/>
          <p:nvPr/>
        </p:nvSpPr>
        <p:spPr>
          <a:xfrm>
            <a:off x="1828800" y="3566160"/>
            <a:ext cx="8503920" cy="1463040"/>
          </a:xfrm>
          <a:prstGeom prst="rect">
            <a:avLst/>
          </a:prstGeom>
          <a:noFill/>
          <a:ln/>
        </p:spPr>
        <p:txBody>
          <a:bodyPr wrap="square" lIns="0" tIns="0" rIns="0" bIns="0" rtlCol="0" anchor="ctr"/>
          <a:lstStyle/>
          <a:p>
            <a:pPr algn="ctr" indent="0" marL="0">
              <a:buNone/>
            </a:pPr>
            <a:r>
              <a:rPr lang="en-US" sz="1300" i="1" dirty="0">
                <a:solidFill>
                  <a:srgbClr val="F9E795"/>
                </a:solidFill>
                <a:latin typeface="Calibri" pitchFamily="34" charset="0"/>
                <a:ea typeface="Calibri" pitchFamily="34" charset="-122"/>
                <a:cs typeface="Calibri" pitchFamily="34" charset="-120"/>
              </a:rPr>
              <a:t>We sincerely thank our faculty for the Technical Seminar Presentation and Group Discussion (HU391) for their valuable guidance and support throughout this project. We are also grateful to our peers who participated in our survey and to our institution for providing the resources and opportunity to explore this topic.</a:t>
            </a:r>
            <a:endParaRPr lang="en-US" sz="1300" dirty="0"/>
          </a:p>
        </p:txBody>
      </p:sp>
      <p:sp>
        <p:nvSpPr>
          <p:cNvPr id="8" name="Text 5"/>
          <p:cNvSpPr/>
          <p:nvPr/>
        </p:nvSpPr>
        <p:spPr>
          <a:xfrm>
            <a:off x="0" y="5257800"/>
            <a:ext cx="12191695" cy="548640"/>
          </a:xfrm>
          <a:prstGeom prst="rect">
            <a:avLst/>
          </a:prstGeom>
          <a:noFill/>
          <a:ln/>
        </p:spPr>
        <p:txBody>
          <a:bodyPr wrap="square" lIns="0" tIns="0" rIns="0" bIns="0" rtlCol="0" anchor="ctr"/>
          <a:lstStyle/>
          <a:p>
            <a:pPr algn="ctr" indent="0" marL="0">
              <a:buNone/>
            </a:pPr>
            <a:r>
              <a:rPr lang="en-US" sz="2000" b="1" dirty="0">
                <a:solidFill>
                  <a:srgbClr val="F96167"/>
                </a:solidFill>
                <a:latin typeface="Cambria" pitchFamily="34" charset="0"/>
                <a:ea typeface="Cambria" pitchFamily="34" charset="-122"/>
                <a:cs typeface="Cambria" pitchFamily="34" charset="-120"/>
              </a:rPr>
              <a:t>Thank You</a:t>
            </a:r>
            <a:endParaRPr lang="en-US" sz="2000" dirty="0"/>
          </a:p>
        </p:txBody>
      </p:sp>
      <p:sp>
        <p:nvSpPr>
          <p:cNvPr id="9" name="Text 6"/>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B7BEDE"/>
                </a:solidFill>
                <a:latin typeface="Calibri" pitchFamily="34" charset="0"/>
                <a:ea typeface="Calibri" pitchFamily="34" charset="-122"/>
                <a:cs typeface="Calibri" pitchFamily="34" charset="-120"/>
              </a:rPr>
              <a:t>Traditional Games vs. Mobile Games</a:t>
            </a:r>
            <a:endParaRPr lang="en-US" sz="900" dirty="0"/>
          </a:p>
        </p:txBody>
      </p:sp>
      <p:sp>
        <p:nvSpPr>
          <p:cNvPr id="10" name="Text 7"/>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B7BED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2026-09-27T06:10:36Z</dcterms:created>
  <dcterms:modified xsi:type="dcterms:W3CDTF">2026-09-27T06:10:36Z</dcterms:modified>
</cp:coreProperties>
</file>